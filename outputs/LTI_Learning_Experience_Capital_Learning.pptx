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the promise: this is the story of designing the full learning experience around the LTI workshop — and the system that lets the team run it for any workshop, in any market.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1 — where this started: a strong workshop, and nothing around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LTI deck itself was strong — but it began and ended in the room. Nothing before, nothing after, no way to make it stick, no template for the next consultant.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pre/post materials existed, so the brief was the whole journey — full creative freedom, with the team's guidance shaping direction throughout.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2 — the design rests on named behavioural models, not a pile of assets. [Verbal credit here: conversations with the Chen En Singapore consultants and the international team shaped this synthesis.]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Adult-learning reality: Prisoners, Vacationers, Learners. The strategic goal of the whole pre-workshop layer is to make each adviser find their own reason to care — before they walk in. (Internal framing only — never used in adviser-facing copy.)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Fogg B=MAP shaped the pre-workshop setup; the atomic habit loop shaped the post-workshop layer. [Verbal credit: this synthesis came out of conversations with the Singapore consultants and the international team.]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four-box framework — Acknowledge, Perspective, Confidence, Opportunity — is the connective tissue. Every artifact the team will see, pre to post, is built on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3 — the build. One experience in three moments: before, during, after.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front door: a reflection advisers actually want to take. Underneath, each answer is pre-weighted on five hidden behavioural axes; the output is one of four archetypes, strengths-first with one growth edge.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test, second audience: the consultant gets the objection mix, five behavioural sliders, and the confidence-vs-behaviour gap line — it flags the over-confident and the capable-but-under-confident before the room fills.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old 4-question form was rebuilt as a two-minute gut check. The ranking poll is the teaching moment: the room watches 'ask what's driving it' land last — then the framework flips it to first. Re-run the confidence poll at the end to show the shift.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Content didn't change — its shape did: from slides to moves an adviser can use in a client conversation. [Verbal credit: the reframing was shaped with the Chen En Singapore consultants and the international team.]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post-workshop layer runs on the habit loop: a calendar cue, one client-ready action, one logged win. The Advisor Journey page makes progress visible — ring, streak, wins tally, one move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calendar tool is where the iteration is visible: v8 shell → v10 assets → v13/v15 embedding → v16 touchpoint model → v17 exports that carry their own file bytes, so an import restores everything. All real versions.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judgement beat: the arc ran to 12 touchpoints; it shipped with 3 — Day 0, Week 1, Month 1 — without losing the method. And the sign-in gate came out after feedback. [Verbal credit: team and consultant feedback drove both cuts.]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4 — the delivery problem. Told honestly: the failures here are why the ending can be trusted.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Physics first: a QR holds 2–3 KB; the calendar files run to hundreds. So the QR points somewhere — and the first pointer failed on iOS with 'Validation failed'. Underneath sat a real trilemma on internal hosting.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arc: an honest engineering failure (hand-written encoder), a validated interim tool, then the real ending — an M365-native flow: scan → Form → Power Automate → .ics emailed in ~30 seconds. Governed, no external hosting, with runbook and handover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5 — the peak of the story: the generalisation.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peak: not the LTI calendar tool, but the machine that builds calendar tools. Content designers generate one for any workshop; branding is locked; the consultant user guide is already written. The team owns infrastructure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Already travelling: Asia and Europe adaptations. And every piece is built for two users — designers who generate, consultants who use. [Verbal credit: the Singapore consultants and international team shaped the market adaptations.]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Business-impact lens: the journey is built once and reused in under a minute; delivery is automated at ~30 seconds per adviser; every export is on-brand independent of who runs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direct ask: adopt it as-is across LTI workshops. Close on the line — 'this is ready to use tomorrow' — and open for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B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09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09B8F"/>
                </a:solidFill>
                <a:latin typeface="Arial"/>
              </a:rPr>
              <a:t>CAPITAL LEARNING  ·  LONG-TERM INVESTING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874519"/>
            <a:ext cx="640080" cy="45720"/>
          </a:xfrm>
          <a:prstGeom prst="rect">
            <a:avLst/>
          </a:prstGeom>
          <a:solidFill>
            <a:srgbClr val="009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40280"/>
            <a:ext cx="105156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5400" b="1" i="0">
                <a:solidFill>
                  <a:srgbClr val="FFFFFF"/>
                </a:solidFill>
                <a:latin typeface="Arial"/>
              </a:rPr>
              <a:t>From a workshop</a:t>
            </a:r>
          </a:p>
          <a:p>
            <a:pPr algn="l">
              <a:lnSpc>
                <a:spcPct val="102000"/>
              </a:lnSpc>
            </a:pPr>
            <a:r>
              <a:rPr sz="5400" b="1" i="0">
                <a:solidFill>
                  <a:srgbClr val="FFFFFF"/>
                </a:solidFill>
                <a:latin typeface="Arial"/>
              </a:rPr>
              <a:t>to a journey.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34340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 i="0">
                <a:solidFill>
                  <a:srgbClr val="BFD2DE"/>
                </a:solidFill>
                <a:latin typeface="Arial"/>
              </a:rPr>
              <a:t>The complete LTI learning experience — designed end-to-end,</a:t>
            </a:r>
          </a:p>
          <a:p>
            <a:pPr algn="l">
              <a:lnSpc>
                <a:spcPct val="115000"/>
              </a:lnSpc>
            </a:pPr>
            <a:r>
              <a:rPr sz="1900" b="0" i="0">
                <a:solidFill>
                  <a:srgbClr val="BFD2DE"/>
                </a:solidFill>
                <a:latin typeface="Arial"/>
              </a:rPr>
              <a:t>automated, and ready to roll out.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8FA9BA"/>
                </a:solidFill>
                <a:latin typeface="Arial"/>
              </a:rPr>
              <a:t>Chee Sin  ·  Capital Learning team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B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FB3C2"/>
                </a:solidFill>
                <a:latin typeface="Arial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41148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0" b="1" i="0">
                <a:solidFill>
                  <a:srgbClr val="144A6E"/>
                </a:solidFill>
                <a:latin typeface="Arial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4069080"/>
            <a:ext cx="640080" cy="45720"/>
          </a:xfrm>
          <a:prstGeom prst="rect">
            <a:avLst/>
          </a:prstGeom>
          <a:solidFill>
            <a:srgbClr val="009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429768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FFFFFF"/>
                </a:solidFill>
                <a:latin typeface="Arial"/>
              </a:rPr>
              <a:t>The gap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AFBDC7"/>
                </a:solidFill>
                <a:latin typeface="Arial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029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09B8F"/>
                </a:solidFill>
                <a:latin typeface="Arial"/>
              </a:rPr>
              <a:t>THE GAP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886968"/>
            <a:ext cx="502920" cy="41148"/>
          </a:xfrm>
          <a:prstGeom prst="rect">
            <a:avLst/>
          </a:prstGeom>
          <a:solidFill>
            <a:srgbClr val="009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914400"/>
            <a:ext cx="107899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002B49"/>
                </a:solidFill>
                <a:latin typeface="Arial"/>
              </a:rPr>
              <a:t>The workshop began and ended in the room.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22960" y="3520439"/>
            <a:ext cx="10561320" cy="0"/>
          </a:xfrm>
          <a:prstGeom prst="line">
            <a:avLst/>
          </a:prstGeom>
          <a:ln w="15240">
            <a:solidFill>
              <a:srgbClr val="C9D3D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960120" y="2651760"/>
            <a:ext cx="2926080" cy="1737360"/>
          </a:xfrm>
          <a:prstGeom prst="roundRect">
            <a:avLst>
              <a:gd name="adj" fmla="val 8000"/>
            </a:avLst>
          </a:prstGeom>
          <a:noFill/>
          <a:ln w="19050">
            <a:solidFill>
              <a:srgbClr val="C9D3D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15468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AFBDC7"/>
                </a:solidFill>
                <a:latin typeface="Arial"/>
              </a:rPr>
              <a:t>BEFORE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566160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1">
                <a:solidFill>
                  <a:srgbClr val="AFBDC7"/>
                </a:solidFill>
                <a:latin typeface="Arial"/>
              </a:rPr>
              <a:t>nothing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26280" y="2423160"/>
            <a:ext cx="3154680" cy="2194560"/>
          </a:xfrm>
          <a:prstGeom prst="roundRect">
            <a:avLst>
              <a:gd name="adj" fmla="val 8000"/>
            </a:avLst>
          </a:prstGeom>
          <a:solidFill>
            <a:srgbClr val="002B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80" y="2944368"/>
            <a:ext cx="3154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Arial"/>
              </a:rPr>
              <a:t>THE LTI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3310128"/>
            <a:ext cx="3154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Arial"/>
              </a:rPr>
              <a:t>WORKSHOP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3840480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1">
                <a:solidFill>
                  <a:srgbClr val="9FC4D8"/>
                </a:solidFill>
                <a:latin typeface="Arial"/>
              </a:rPr>
              <a:t>strong — but self-contained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21040" y="2651760"/>
            <a:ext cx="2926080" cy="1737360"/>
          </a:xfrm>
          <a:prstGeom prst="roundRect">
            <a:avLst>
              <a:gd name="adj" fmla="val 8000"/>
            </a:avLst>
          </a:prstGeom>
          <a:noFill/>
          <a:ln w="19050">
            <a:solidFill>
              <a:srgbClr val="C9D3D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40" y="315468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AFBDC7"/>
                </a:solidFill>
                <a:latin typeface="Arial"/>
              </a:rPr>
              <a:t>AFTER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3566160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1">
                <a:solidFill>
                  <a:srgbClr val="AFBDC7"/>
                </a:solidFill>
                <a:latin typeface="Arial"/>
              </a:rPr>
              <a:t>nothing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2120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 i="0">
                <a:solidFill>
                  <a:srgbClr val="5A6E7F"/>
                </a:solidFill>
                <a:latin typeface="Arial"/>
              </a:rPr>
              <a:t>No preparation   ·   no reinforcement   ·   nothing to make it stick   ·   no template for the next consultant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AFBDC7"/>
                </a:solidFill>
                <a:latin typeface="Arial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029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09B8F"/>
                </a:solidFill>
                <a:latin typeface="Arial"/>
              </a:rPr>
              <a:t>THE MANDATE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886968"/>
            <a:ext cx="502920" cy="41148"/>
          </a:xfrm>
          <a:prstGeom prst="rect">
            <a:avLst/>
          </a:prstGeom>
          <a:solidFill>
            <a:srgbClr val="009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914400"/>
            <a:ext cx="107899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002B49"/>
                </a:solidFill>
                <a:latin typeface="Arial"/>
              </a:rPr>
              <a:t>White space. Freedom to design it end-to-end.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63040" y="2468880"/>
            <a:ext cx="9235440" cy="2651760"/>
          </a:xfrm>
          <a:prstGeom prst="roundRect">
            <a:avLst>
              <a:gd name="adj" fmla="val 8000"/>
            </a:avLst>
          </a:prstGeom>
          <a:solidFill>
            <a:srgbClr val="F4F6F7"/>
          </a:solidFill>
          <a:ln w="12700">
            <a:solidFill>
              <a:srgbClr val="C9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103120" y="3429000"/>
            <a:ext cx="2468880" cy="822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09B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03120" y="3685032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00776E"/>
                </a:solidFill>
                <a:latin typeface="Arial"/>
              </a:rPr>
              <a:t>PRE-WORKSHOP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700016" y="3685032"/>
            <a:ext cx="402336" cy="310896"/>
          </a:xfrm>
          <a:prstGeom prst="rightArrow">
            <a:avLst/>
          </a:prstGeom>
          <a:solidFill>
            <a:srgbClr val="009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257800" y="3429000"/>
            <a:ext cx="2468880" cy="822960"/>
          </a:xfrm>
          <a:prstGeom prst="roundRect">
            <a:avLst>
              <a:gd name="adj" fmla="val 8000"/>
            </a:avLst>
          </a:prstGeom>
          <a:solidFill>
            <a:srgbClr val="009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257800" y="3685032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IN-WORKSHOP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854696" y="3685032"/>
            <a:ext cx="402336" cy="310896"/>
          </a:xfrm>
          <a:prstGeom prst="rightArrow">
            <a:avLst/>
          </a:prstGeom>
          <a:solidFill>
            <a:srgbClr val="009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412480" y="3429000"/>
            <a:ext cx="2468880" cy="822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09B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3685032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00776E"/>
                </a:solidFill>
                <a:latin typeface="Arial"/>
              </a:rPr>
              <a:t>POST-WORKSHOP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4526280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1">
                <a:solidFill>
                  <a:srgbClr val="5A6E7F"/>
                </a:solidFill>
                <a:latin typeface="Arial"/>
              </a:rPr>
              <a:t>one experience — not three assets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4864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 i="0">
                <a:solidFill>
                  <a:srgbClr val="5A6E7F"/>
                </a:solidFill>
                <a:latin typeface="Arial"/>
              </a:rPr>
              <a:t>No existing materials to inherit — and the team's guidance shaping direction throughout.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B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FB3C2"/>
                </a:solidFill>
                <a:latin typeface="Arial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41148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0" b="1" i="0">
                <a:solidFill>
                  <a:srgbClr val="144A6E"/>
                </a:solidFill>
                <a:latin typeface="Arial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4069080"/>
            <a:ext cx="640080" cy="45720"/>
          </a:xfrm>
          <a:prstGeom prst="rect">
            <a:avLst/>
          </a:prstGeom>
          <a:solidFill>
            <a:srgbClr val="009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429768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FFFFFF"/>
                </a:solidFill>
                <a:latin typeface="Arial"/>
              </a:rPr>
              <a:t>The thinking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52578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009B8F"/>
                </a:solidFill>
                <a:latin typeface="Arial"/>
              </a:rPr>
              <a:t>behavioural design before any artifact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AFBDC7"/>
                </a:solidFill>
                <a:latin typeface="Arial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029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09B8F"/>
                </a:solidFill>
                <a:latin typeface="Arial"/>
              </a:rPr>
              <a:t>THE THINKING · WHO WALKS IN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886968"/>
            <a:ext cx="502920" cy="41148"/>
          </a:xfrm>
          <a:prstGeom prst="rect">
            <a:avLst/>
          </a:prstGeom>
          <a:solidFill>
            <a:srgbClr val="009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914400"/>
            <a:ext cx="107899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002B49"/>
                </a:solidFill>
                <a:latin typeface="Arial"/>
              </a:rPr>
              <a:t>Three people walk into every workshop.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148840"/>
            <a:ext cx="324612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C9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68680" y="2148840"/>
            <a:ext cx="3246120" cy="109728"/>
          </a:xfrm>
          <a:prstGeom prst="rect">
            <a:avLst/>
          </a:prstGeom>
          <a:solidFill>
            <a:srgbClr val="AFB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107691" y="2560320"/>
            <a:ext cx="768096" cy="768096"/>
          </a:xfrm>
          <a:prstGeom prst="ellipse">
            <a:avLst/>
          </a:prstGeom>
          <a:solidFill>
            <a:srgbClr val="F4F6F7"/>
          </a:solidFill>
          <a:ln w="19050">
            <a:solidFill>
              <a:srgbClr val="AFB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3520440"/>
            <a:ext cx="3246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5A6E7F"/>
                </a:solidFill>
                <a:latin typeface="Arial"/>
              </a:rPr>
              <a:t>THE PRISONER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904487"/>
            <a:ext cx="3246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1">
                <a:solidFill>
                  <a:srgbClr val="5A6E7F"/>
                </a:solidFill>
                <a:latin typeface="Arial"/>
              </a:rPr>
              <a:t>“I have to be here.”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26280" y="2148840"/>
            <a:ext cx="324612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C9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26280" y="2148840"/>
            <a:ext cx="3246120" cy="109728"/>
          </a:xfrm>
          <a:prstGeom prst="rect">
            <a:avLst/>
          </a:prstGeom>
          <a:solidFill>
            <a:srgbClr val="AFB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765292" y="2560320"/>
            <a:ext cx="768096" cy="768096"/>
          </a:xfrm>
          <a:prstGeom prst="ellipse">
            <a:avLst/>
          </a:prstGeom>
          <a:solidFill>
            <a:srgbClr val="F4F6F7"/>
          </a:solidFill>
          <a:ln w="19050">
            <a:solidFill>
              <a:srgbClr val="AFB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26280" y="3520440"/>
            <a:ext cx="3246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5A6E7F"/>
                </a:solidFill>
                <a:latin typeface="Arial"/>
              </a:rPr>
              <a:t>THE VACATIONER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80" y="3904487"/>
            <a:ext cx="3246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1">
                <a:solidFill>
                  <a:srgbClr val="5A6E7F"/>
                </a:solidFill>
                <a:latin typeface="Arial"/>
              </a:rPr>
              <a:t>“Nice day out of the office.”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83879" y="2148840"/>
            <a:ext cx="324612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C9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83879" y="2148840"/>
            <a:ext cx="3246120" cy="109728"/>
          </a:xfrm>
          <a:prstGeom prst="rect">
            <a:avLst/>
          </a:prstGeom>
          <a:solidFill>
            <a:srgbClr val="009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422892" y="2560320"/>
            <a:ext cx="768096" cy="768096"/>
          </a:xfrm>
          <a:prstGeom prst="ellipse">
            <a:avLst/>
          </a:prstGeom>
          <a:solidFill>
            <a:srgbClr val="E4F3F1"/>
          </a:solidFill>
          <a:ln w="19050">
            <a:solidFill>
              <a:srgbClr val="009B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83879" y="3520440"/>
            <a:ext cx="3246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00776E"/>
                </a:solidFill>
                <a:latin typeface="Arial"/>
              </a:rPr>
              <a:t>THE LEARNER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3879" y="3904487"/>
            <a:ext cx="3246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1">
                <a:solidFill>
                  <a:srgbClr val="5A6E7F"/>
                </a:solidFill>
                <a:latin typeface="Arial"/>
              </a:rPr>
              <a:t>“I’m here to get better.”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" y="4892040"/>
            <a:ext cx="10561320" cy="868680"/>
          </a:xfrm>
          <a:prstGeom prst="roundRect">
            <a:avLst>
              <a:gd name="adj" fmla="val 8000"/>
            </a:avLst>
          </a:prstGeom>
          <a:solidFill>
            <a:srgbClr val="002B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5138928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Arial"/>
              </a:rPr>
              <a:t>The pre-workshop layer exists to convert all three into Learners — before they walk in.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AFBDC7"/>
                </a:solidFill>
                <a:latin typeface="Arial"/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029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09B8F"/>
                </a:solidFill>
                <a:latin typeface="Arial"/>
              </a:rPr>
              <a:t>THE THINKING · THE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886968"/>
            <a:ext cx="502920" cy="41148"/>
          </a:xfrm>
          <a:prstGeom prst="rect">
            <a:avLst/>
          </a:prstGeom>
          <a:solidFill>
            <a:srgbClr val="009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914400"/>
            <a:ext cx="107899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002B49"/>
                </a:solidFill>
                <a:latin typeface="Arial"/>
              </a:rPr>
              <a:t>Two models, one journey.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103120"/>
            <a:ext cx="5074920" cy="3657600"/>
          </a:xfrm>
          <a:prstGeom prst="roundRect">
            <a:avLst>
              <a:gd name="adj" fmla="val 8000"/>
            </a:avLst>
          </a:prstGeom>
          <a:solidFill>
            <a:srgbClr val="F4F6F7"/>
          </a:solidFill>
          <a:ln w="12700">
            <a:solidFill>
              <a:srgbClr val="C9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88719" y="2423160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002B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PRE-WORKSHOP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19" y="3017520"/>
            <a:ext cx="44348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002B49"/>
                </a:solidFill>
                <a:latin typeface="Arial"/>
              </a:rPr>
              <a:t>Fogg  B = MAP</a:t>
            </a:r>
          </a:p>
        </p:txBody>
      </p:sp>
      <p:sp>
        <p:nvSpPr>
          <p:cNvPr id="10" name="Oval 9"/>
          <p:cNvSpPr/>
          <p:nvPr/>
        </p:nvSpPr>
        <p:spPr>
          <a:xfrm>
            <a:off x="1216152" y="3749039"/>
            <a:ext cx="164592" cy="164592"/>
          </a:xfrm>
          <a:prstGeom prst="ellipse">
            <a:avLst/>
          </a:prstGeom>
          <a:solidFill>
            <a:srgbClr val="009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527048" y="3703320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0776E"/>
                </a:solidFill>
                <a:latin typeface="Arial"/>
              </a:rPr>
              <a:t>Ability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3703320"/>
            <a:ext cx="269747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5A6E7F"/>
                </a:solidFill>
                <a:latin typeface="Arial"/>
              </a:rPr>
              <a:t>tiny, tap-based actions</a:t>
            </a:r>
          </a:p>
        </p:txBody>
      </p:sp>
      <p:sp>
        <p:nvSpPr>
          <p:cNvPr id="13" name="Oval 12"/>
          <p:cNvSpPr/>
          <p:nvPr/>
        </p:nvSpPr>
        <p:spPr>
          <a:xfrm>
            <a:off x="1216152" y="4370831"/>
            <a:ext cx="164592" cy="164592"/>
          </a:xfrm>
          <a:prstGeom prst="ellipse">
            <a:avLst/>
          </a:prstGeom>
          <a:solidFill>
            <a:srgbClr val="009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527048" y="4325112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0776E"/>
                </a:solidFill>
                <a:latin typeface="Arial"/>
              </a:rPr>
              <a:t>Motivation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4325112"/>
            <a:ext cx="269747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5A6E7F"/>
                </a:solidFill>
                <a:latin typeface="Arial"/>
              </a:rPr>
              <a:t>identity &amp; commitment framing</a:t>
            </a:r>
          </a:p>
        </p:txBody>
      </p:sp>
      <p:sp>
        <p:nvSpPr>
          <p:cNvPr id="16" name="Oval 15"/>
          <p:cNvSpPr/>
          <p:nvPr/>
        </p:nvSpPr>
        <p:spPr>
          <a:xfrm>
            <a:off x="1216152" y="4992624"/>
            <a:ext cx="164592" cy="164592"/>
          </a:xfrm>
          <a:prstGeom prst="ellipse">
            <a:avLst/>
          </a:prstGeom>
          <a:solidFill>
            <a:srgbClr val="009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527048" y="4946904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0776E"/>
                </a:solidFill>
                <a:latin typeface="Arial"/>
              </a:rPr>
              <a:t>Prompt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0" y="4946904"/>
            <a:ext cx="269747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5A6E7F"/>
                </a:solidFill>
                <a:latin typeface="Arial"/>
              </a:rPr>
              <a:t>completion meter — goal-gradient momentum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2103120"/>
            <a:ext cx="5074920" cy="3657600"/>
          </a:xfrm>
          <a:prstGeom prst="roundRect">
            <a:avLst>
              <a:gd name="adj" fmla="val 8000"/>
            </a:avLst>
          </a:prstGeom>
          <a:solidFill>
            <a:srgbClr val="F4F6F7"/>
          </a:solidFill>
          <a:ln w="12700">
            <a:solidFill>
              <a:srgbClr val="C9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583679" y="242316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002B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POST-WORKSHOP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79" y="3017520"/>
            <a:ext cx="44348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002B49"/>
                </a:solidFill>
                <a:latin typeface="Arial"/>
              </a:rPr>
              <a:t>Atomic habit loop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79" y="3794760"/>
            <a:ext cx="13716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09B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79" y="3931920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00776E"/>
                </a:solidFill>
                <a:latin typeface="Arial"/>
              </a:rPr>
              <a:t>CUE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79" y="4261104"/>
            <a:ext cx="1371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5A6E7F"/>
                </a:solidFill>
                <a:latin typeface="Arial"/>
              </a:rPr>
              <a:t>calendar reminder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7973567" y="4096512"/>
            <a:ext cx="182880" cy="256032"/>
          </a:xfrm>
          <a:prstGeom prst="rightArrow">
            <a:avLst/>
          </a:prstGeom>
          <a:solidFill>
            <a:srgbClr val="009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156448" y="3794760"/>
            <a:ext cx="13716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09B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56448" y="3931920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00776E"/>
                </a:solidFill>
                <a:latin typeface="Arial"/>
              </a:rPr>
              <a:t>ACTION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56448" y="4261104"/>
            <a:ext cx="1371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5A6E7F"/>
                </a:solidFill>
                <a:latin typeface="Arial"/>
              </a:rPr>
              <a:t>one client-ready move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9546336" y="4096512"/>
            <a:ext cx="182880" cy="256032"/>
          </a:xfrm>
          <a:prstGeom prst="rightArrow">
            <a:avLst/>
          </a:prstGeom>
          <a:solidFill>
            <a:srgbClr val="009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9729215" y="3794760"/>
            <a:ext cx="13716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09B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29215" y="3931920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00776E"/>
                </a:solidFill>
                <a:latin typeface="Arial"/>
              </a:rPr>
              <a:t>REWARD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29215" y="4261104"/>
            <a:ext cx="1371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5A6E7F"/>
                </a:solidFill>
                <a:latin typeface="Arial"/>
              </a:rPr>
              <a:t>one logged win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79" y="4983479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5A6E7F"/>
                </a:solidFill>
                <a:latin typeface="Arial"/>
              </a:rPr>
              <a:t>repeat weekly — small, visible, client-ready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AFBDC7"/>
                </a:solidFill>
                <a:latin typeface="Arial"/>
              </a:rP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029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09B8F"/>
                </a:solidFill>
                <a:latin typeface="Arial"/>
              </a:rPr>
              <a:t>THE THINKING · THE CONNECTIVE TISSUE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886968"/>
            <a:ext cx="502920" cy="41148"/>
          </a:xfrm>
          <a:prstGeom prst="rect">
            <a:avLst/>
          </a:prstGeom>
          <a:solidFill>
            <a:srgbClr val="009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914400"/>
            <a:ext cx="107899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002B49"/>
                </a:solidFill>
                <a:latin typeface="Arial"/>
              </a:rPr>
              <a:t>One framework connects everything.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94760" y="2148840"/>
            <a:ext cx="2240280" cy="1600200"/>
          </a:xfrm>
          <a:prstGeom prst="roundRect">
            <a:avLst>
              <a:gd name="adj" fmla="val 8000"/>
            </a:avLst>
          </a:prstGeom>
          <a:solidFill>
            <a:srgbClr val="002B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94760" y="2747772"/>
            <a:ext cx="2240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ACKNOWLEDGE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59352" y="225856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BFD2DE"/>
                </a:solidFill>
                <a:latin typeface="Arial"/>
              </a:rPr>
              <a:t>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2" y="2148840"/>
            <a:ext cx="2240280" cy="1600200"/>
          </a:xfrm>
          <a:prstGeom prst="roundRect">
            <a:avLst>
              <a:gd name="adj" fmla="val 8000"/>
            </a:avLst>
          </a:prstGeom>
          <a:solidFill>
            <a:srgbClr val="009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99632" y="2747772"/>
            <a:ext cx="2240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PERSPECTIVE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64224" y="225856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D6EFEB"/>
                </a:solidFill>
                <a:latin typeface="Arial"/>
              </a:rP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94760" y="3913632"/>
            <a:ext cx="2240280" cy="1600200"/>
          </a:xfrm>
          <a:prstGeom prst="roundRect">
            <a:avLst>
              <a:gd name="adj" fmla="val 8000"/>
            </a:avLst>
          </a:prstGeom>
          <a:solidFill>
            <a:srgbClr val="009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94760" y="4512564"/>
            <a:ext cx="2240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CONFIDENCE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59352" y="402336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D6EFEB"/>
                </a:solidFill>
                <a:latin typeface="Arial"/>
              </a:rPr>
              <a:t>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9632" y="3913632"/>
            <a:ext cx="2240280" cy="1600200"/>
          </a:xfrm>
          <a:prstGeom prst="roundRect">
            <a:avLst>
              <a:gd name="adj" fmla="val 8000"/>
            </a:avLst>
          </a:prstGeom>
          <a:solidFill>
            <a:srgbClr val="002B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99632" y="4512564"/>
            <a:ext cx="2240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OPPORTUNITY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64224" y="402336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BFD2DE"/>
                </a:solidFill>
                <a:latin typeface="Arial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7150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 i="0">
                <a:solidFill>
                  <a:srgbClr val="5A6E7F"/>
                </a:solidFill>
                <a:latin typeface="Arial"/>
              </a:rPr>
              <a:t>Every artifact — pre, during, post — is built on the same four moves.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B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FB3C2"/>
                </a:solidFill>
                <a:latin typeface="Arial"/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41148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0" b="1" i="0">
                <a:solidFill>
                  <a:srgbClr val="144A6E"/>
                </a:solidFill>
                <a:latin typeface="Arial"/>
              </a:rP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4069080"/>
            <a:ext cx="640080" cy="45720"/>
          </a:xfrm>
          <a:prstGeom prst="rect">
            <a:avLst/>
          </a:prstGeom>
          <a:solidFill>
            <a:srgbClr val="009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429768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FFFFFF"/>
                </a:solidFill>
                <a:latin typeface="Arial"/>
              </a:rPr>
              <a:t>The build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52578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009B8F"/>
                </a:solidFill>
                <a:latin typeface="Arial"/>
              </a:rPr>
              <a:t>one experience · three moments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0" y="4343400"/>
            <a:ext cx="1234440" cy="502920"/>
          </a:xfrm>
          <a:prstGeom prst="roundRect">
            <a:avLst>
              <a:gd name="adj" fmla="val 8000"/>
            </a:avLst>
          </a:prstGeom>
          <a:noFill/>
          <a:ln w="15240">
            <a:solidFill>
              <a:srgbClr val="009B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0" y="4462272"/>
            <a:ext cx="1234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009B8F"/>
                </a:solidFill>
                <a:latin typeface="Arial"/>
              </a:rPr>
              <a:t>BEFORE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06840" y="4343400"/>
            <a:ext cx="1234440" cy="502920"/>
          </a:xfrm>
          <a:prstGeom prst="roundRect">
            <a:avLst>
              <a:gd name="adj" fmla="val 8000"/>
            </a:avLst>
          </a:prstGeom>
          <a:noFill/>
          <a:ln w="15240">
            <a:solidFill>
              <a:srgbClr val="009B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06840" y="4462272"/>
            <a:ext cx="1234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009B8F"/>
                </a:solidFill>
                <a:latin typeface="Arial"/>
              </a:rPr>
              <a:t>DURING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424160" y="4343400"/>
            <a:ext cx="1234440" cy="502920"/>
          </a:xfrm>
          <a:prstGeom prst="roundRect">
            <a:avLst>
              <a:gd name="adj" fmla="val 8000"/>
            </a:avLst>
          </a:prstGeom>
          <a:noFill/>
          <a:ln w="15240">
            <a:solidFill>
              <a:srgbClr val="009B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24160" y="4462272"/>
            <a:ext cx="1234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009B8F"/>
                </a:solidFill>
                <a:latin typeface="Arial"/>
              </a:rPr>
              <a:t>AFTER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AFBDC7"/>
                </a:solidFill>
                <a:latin typeface="Arial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029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09B8F"/>
                </a:solidFill>
                <a:latin typeface="Arial"/>
              </a:rPr>
              <a:t>THE BUILD · BEFORE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886968"/>
            <a:ext cx="502920" cy="41148"/>
          </a:xfrm>
          <a:prstGeom prst="rect">
            <a:avLst/>
          </a:prstGeom>
          <a:solidFill>
            <a:srgbClr val="009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914400"/>
            <a:ext cx="107899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002B49"/>
                </a:solidFill>
                <a:latin typeface="Arial"/>
              </a:rPr>
              <a:t>A personality test on the surface.</a:t>
            </a:r>
          </a:p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002B49"/>
                </a:solidFill>
                <a:latin typeface="Arial"/>
              </a:rPr>
              <a:t>A diagnostic underneath.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377440"/>
            <a:ext cx="1056132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09B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19" y="2578608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002B49"/>
                </a:solidFill>
                <a:latin typeface="Arial"/>
              </a:rPr>
              <a:t>“What type of adviser are you?”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19" y="2999232"/>
            <a:ext cx="5120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5A6E7F"/>
                </a:solidFill>
                <a:latin typeface="Arial"/>
              </a:rPr>
              <a:t>Realistic client scenarios — every option plausible.</a:t>
            </a:r>
          </a:p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5A6E7F"/>
                </a:solidFill>
                <a:latin typeface="Arial"/>
              </a:rPr>
              <a:t>Can’t be gamed. Strengths-first results.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92240" y="2651760"/>
            <a:ext cx="2240280" cy="384048"/>
          </a:xfrm>
          <a:prstGeom prst="roundRect">
            <a:avLst>
              <a:gd name="adj" fmla="val 50000"/>
            </a:avLst>
          </a:prstGeom>
          <a:solidFill>
            <a:srgbClr val="E4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100" b="1">
                <a:solidFill>
                  <a:srgbClr val="00776E"/>
                </a:solidFill>
                <a:latin typeface="Arial"/>
              </a:rPr>
              <a:t>REASSURER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15400" y="2651760"/>
            <a:ext cx="2240280" cy="384048"/>
          </a:xfrm>
          <a:prstGeom prst="roundRect">
            <a:avLst>
              <a:gd name="adj" fmla="val 50000"/>
            </a:avLst>
          </a:prstGeom>
          <a:solidFill>
            <a:srgbClr val="E4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100" b="1">
                <a:solidFill>
                  <a:srgbClr val="00776E"/>
                </a:solidFill>
                <a:latin typeface="Arial"/>
              </a:rPr>
              <a:t>STRATEGIST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92240" y="3218688"/>
            <a:ext cx="2240280" cy="384048"/>
          </a:xfrm>
          <a:prstGeom prst="roundRect">
            <a:avLst>
              <a:gd name="adj" fmla="val 50000"/>
            </a:avLst>
          </a:prstGeom>
          <a:solidFill>
            <a:srgbClr val="E4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100" b="1">
                <a:solidFill>
                  <a:srgbClr val="00776E"/>
                </a:solidFill>
                <a:latin typeface="Arial"/>
              </a:rPr>
              <a:t>COACH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15400" y="3218688"/>
            <a:ext cx="2240280" cy="384048"/>
          </a:xfrm>
          <a:prstGeom prst="roundRect">
            <a:avLst>
              <a:gd name="adj" fmla="val 50000"/>
            </a:avLst>
          </a:prstGeom>
          <a:solidFill>
            <a:srgbClr val="E4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100" b="1">
                <a:solidFill>
                  <a:srgbClr val="00776E"/>
                </a:solidFill>
                <a:latin typeface="Arial"/>
              </a:rPr>
              <a:t>STEADY HAND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4206240"/>
            <a:ext cx="10561320" cy="1691640"/>
          </a:xfrm>
          <a:prstGeom prst="roundRect">
            <a:avLst>
              <a:gd name="adj" fmla="val 8000"/>
            </a:avLst>
          </a:prstGeom>
          <a:solidFill>
            <a:srgbClr val="002B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19" y="438912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09B8F"/>
                </a:solidFill>
                <a:latin typeface="Arial"/>
              </a:rPr>
              <a:t>UNDERNEATH: 5 HIDDEN AXES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19" y="489204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FFFFFF"/>
                </a:solidFill>
                <a:latin typeface="Arial"/>
              </a:rPr>
              <a:t>empathy ↔ data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7720" y="489204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FFFFFF"/>
                </a:solidFill>
                <a:latin typeface="Arial"/>
              </a:rPr>
              <a:t>reactive ↔ anchored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489204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FFFFFF"/>
                </a:solidFill>
                <a:latin typeface="Arial"/>
              </a:rPr>
              <a:t>product ↔ goal-led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19" y="5394959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FFFFFF"/>
                </a:solidFill>
                <a:latin typeface="Arial"/>
              </a:rPr>
              <a:t>avoids ↔ addresses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17720" y="5394959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FFFFFF"/>
                </a:solidFill>
                <a:latin typeface="Arial"/>
              </a:rPr>
              <a:t>drifts ↔ lands next step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92440" y="438912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1">
                <a:solidFill>
                  <a:srgbClr val="9FC4D8"/>
                </a:solidFill>
                <a:latin typeface="Arial"/>
              </a:rPr>
              <a:t>every answer pre-weighted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AFBDC7"/>
                </a:solidFill>
                <a:latin typeface="Arial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029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09B8F"/>
                </a:solidFill>
                <a:latin typeface="Arial"/>
              </a:rPr>
              <a:t>THE BUILD · BEFORE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886968"/>
            <a:ext cx="502920" cy="41148"/>
          </a:xfrm>
          <a:prstGeom prst="rect">
            <a:avLst/>
          </a:prstGeom>
          <a:solidFill>
            <a:srgbClr val="009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914400"/>
            <a:ext cx="107899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002B49"/>
                </a:solidFill>
                <a:latin typeface="Arial"/>
              </a:rPr>
              <a:t>The consultant sees what the adviser can’t.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71600" y="2286000"/>
            <a:ext cx="6583680" cy="3108960"/>
          </a:xfrm>
          <a:prstGeom prst="roundRect">
            <a:avLst>
              <a:gd name="adj" fmla="val 8000"/>
            </a:avLst>
          </a:prstGeom>
          <a:solidFill>
            <a:srgbClr val="F4F6F7"/>
          </a:solidFill>
          <a:ln w="12700">
            <a:solidFill>
              <a:srgbClr val="C9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1920240" y="4846320"/>
            <a:ext cx="5577839" cy="0"/>
          </a:xfrm>
          <a:prstGeom prst="line">
            <a:avLst/>
          </a:prstGeom>
          <a:ln w="15240">
            <a:solidFill>
              <a:srgbClr val="C9D3D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2011680" y="2971800"/>
            <a:ext cx="5303519" cy="137160"/>
          </a:xfrm>
          <a:prstGeom prst="line">
            <a:avLst/>
          </a:prstGeom>
          <a:ln w="31750">
            <a:solidFill>
              <a:srgbClr val="002B4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2011680" y="4251960"/>
            <a:ext cx="5303519" cy="91440"/>
          </a:xfrm>
          <a:prstGeom prst="line">
            <a:avLst/>
          </a:prstGeom>
          <a:ln w="31750">
            <a:solidFill>
              <a:srgbClr val="009B8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766559" y="3017520"/>
            <a:ext cx="0" cy="1289304"/>
          </a:xfrm>
          <a:prstGeom prst="line">
            <a:avLst/>
          </a:prstGeom>
          <a:ln w="25400">
            <a:solidFill>
              <a:srgbClr val="C8604A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40679" y="3360420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C8604A"/>
                </a:solidFill>
                <a:latin typeface="Arial"/>
              </a:rPr>
              <a:t>the gap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272491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02B49"/>
                </a:solidFill>
                <a:latin typeface="Arial"/>
              </a:rPr>
              <a:t>stated confidence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4398264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0776E"/>
                </a:solidFill>
                <a:latin typeface="Arial"/>
              </a:rPr>
              <a:t>actual behaviour (5 sliders)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66760" y="2286000"/>
            <a:ext cx="30175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2286000"/>
            <a:ext cx="82296" cy="914400"/>
          </a:xfrm>
          <a:prstGeom prst="rect">
            <a:avLst/>
          </a:prstGeom>
          <a:solidFill>
            <a:srgbClr val="009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22792" y="2404872"/>
            <a:ext cx="2697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02B49"/>
                </a:solidFill>
                <a:latin typeface="Arial"/>
              </a:rPr>
              <a:t>Objection mix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22792" y="2715768"/>
            <a:ext cx="2697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5A6E7F"/>
                </a:solidFill>
                <a:latin typeface="Arial"/>
              </a:rPr>
              <a:t>what their clients actually raise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66760" y="3364991"/>
            <a:ext cx="30175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366760" y="3364991"/>
            <a:ext cx="82296" cy="914400"/>
          </a:xfrm>
          <a:prstGeom prst="rect">
            <a:avLst/>
          </a:prstGeom>
          <a:solidFill>
            <a:srgbClr val="009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22792" y="3483863"/>
            <a:ext cx="2697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02B49"/>
                </a:solidFill>
                <a:latin typeface="Arial"/>
              </a:rPr>
              <a:t>5 behavioural sliders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22792" y="3794759"/>
            <a:ext cx="2697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5A6E7F"/>
                </a:solidFill>
                <a:latin typeface="Arial"/>
              </a:rPr>
              <a:t>the real diagnostic output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366760" y="4443983"/>
            <a:ext cx="30175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366760" y="4443983"/>
            <a:ext cx="82296" cy="914400"/>
          </a:xfrm>
          <a:prstGeom prst="rect">
            <a:avLst/>
          </a:prstGeom>
          <a:solidFill>
            <a:srgbClr val="009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22792" y="4562855"/>
            <a:ext cx="2697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02B49"/>
                </a:solidFill>
                <a:latin typeface="Arial"/>
              </a:rPr>
              <a:t>Confidence-vs-behaviour gap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22792" y="4873751"/>
            <a:ext cx="2697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5A6E7F"/>
                </a:solidFill>
                <a:latin typeface="Arial"/>
              </a:rPr>
              <a:t>flags over-confidence — and capable-but-under-confident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AFBDC7"/>
                </a:solidFill>
                <a:latin typeface="Arial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029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09B8F"/>
                </a:solidFill>
                <a:latin typeface="Arial"/>
              </a:rPr>
              <a:t>THE BUILD · BEFORE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886968"/>
            <a:ext cx="502920" cy="41148"/>
          </a:xfrm>
          <a:prstGeom prst="rect">
            <a:avLst/>
          </a:prstGeom>
          <a:solidFill>
            <a:srgbClr val="009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914400"/>
            <a:ext cx="107899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002B49"/>
                </a:solidFill>
                <a:latin typeface="Arial"/>
              </a:rPr>
              <a:t>The dull form became a two-minute gut check.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240280"/>
            <a:ext cx="3931920" cy="3017520"/>
          </a:xfrm>
          <a:prstGeom prst="roundRect">
            <a:avLst>
              <a:gd name="adj" fmla="val 8000"/>
            </a:avLst>
          </a:prstGeom>
          <a:solidFill>
            <a:srgbClr val="F4F6F7"/>
          </a:solidFill>
          <a:ln w="12700">
            <a:solidFill>
              <a:srgbClr val="C9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468880"/>
            <a:ext cx="33832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AFBDC7"/>
                </a:solidFill>
                <a:latin typeface="Arial"/>
              </a:rPr>
              <a:t>BEFORE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2880360"/>
            <a:ext cx="33832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5A6E7F"/>
                </a:solidFill>
                <a:latin typeface="Arial"/>
              </a:rPr>
              <a:t>4-question diagnostic form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3429000"/>
            <a:ext cx="338327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AFBDC7"/>
                </a:solidFill>
                <a:latin typeface="Arial"/>
              </a:rPr>
              <a:t>typed answers · named ·</a:t>
            </a:r>
          </a:p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AFBDC7"/>
                </a:solidFill>
                <a:latin typeface="Arial"/>
              </a:rPr>
              <a:t>results nobody sees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029200" y="3520440"/>
            <a:ext cx="548640" cy="457200"/>
          </a:xfrm>
          <a:prstGeom prst="rightArrow">
            <a:avLst/>
          </a:prstGeom>
          <a:solidFill>
            <a:srgbClr val="009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852160" y="2240280"/>
            <a:ext cx="5486400" cy="3017520"/>
          </a:xfrm>
          <a:prstGeom prst="roundRect">
            <a:avLst>
              <a:gd name="adj" fmla="val 8000"/>
            </a:avLst>
          </a:prstGeom>
          <a:solidFill>
            <a:srgbClr val="E4F3F1"/>
          </a:solidFill>
          <a:ln w="19050">
            <a:solidFill>
              <a:srgbClr val="009B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72200" y="2468880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0776E"/>
                </a:solidFill>
                <a:latin typeface="Arial"/>
              </a:rPr>
              <a:t>NOW — LIVE SLIDO / MENTI POLLS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2862072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02B49"/>
                </a:solidFill>
                <a:latin typeface="Arial"/>
              </a:rPr>
              <a:t>Anonymous · tap-not-type · results live on screen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3520440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5A6E7F"/>
                </a:solidFill>
                <a:latin typeface="Arial"/>
              </a:rPr>
              <a:t>The teaching reveal — Q2 as a ranking poll: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931920"/>
            <a:ext cx="301752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4032504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002B49"/>
                </a:solidFill>
                <a:latin typeface="Arial"/>
              </a:rPr>
              <a:t>“ask what’s driving it”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26880" y="3977639"/>
            <a:ext cx="160020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86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100" b="1">
                <a:solidFill>
                  <a:srgbClr val="C8604A"/>
                </a:solidFill>
                <a:latin typeface="Arial"/>
              </a:rPr>
              <a:t>ranked LAST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72200" y="454456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0776E"/>
                </a:solidFill>
                <a:latin typeface="Arial"/>
              </a:rPr>
              <a:t>…then the four-box framework flips it to first.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AFBDC7"/>
                </a:solidFill>
                <a:latin typeface="Arial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029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09B8F"/>
                </a:solidFill>
                <a:latin typeface="Arial"/>
              </a:rPr>
              <a:t>THE BUILD · DURING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886968"/>
            <a:ext cx="502920" cy="41148"/>
          </a:xfrm>
          <a:prstGeom prst="rect">
            <a:avLst/>
          </a:prstGeom>
          <a:solidFill>
            <a:srgbClr val="009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914400"/>
            <a:ext cx="107899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002B49"/>
                </a:solidFill>
                <a:latin typeface="Arial"/>
              </a:rPr>
              <a:t>Slides re-engineered into conversation moves.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286000"/>
            <a:ext cx="338328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C9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68680" y="2286000"/>
            <a:ext cx="82296" cy="1325880"/>
          </a:xfrm>
          <a:prstGeom prst="rect">
            <a:avLst/>
          </a:prstGeom>
          <a:solidFill>
            <a:srgbClr val="009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450592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02B49"/>
                </a:solidFill>
                <a:latin typeface="Arial"/>
              </a:rPr>
              <a:t>Tip Sheet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944368"/>
            <a:ext cx="30175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5A6E7F"/>
                </a:solidFill>
                <a:latin typeface="Arial"/>
              </a:rPr>
              <a:t>the workshop in one page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60" y="2286000"/>
            <a:ext cx="338328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C9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80560" y="2286000"/>
            <a:ext cx="82296" cy="1325880"/>
          </a:xfrm>
          <a:prstGeom prst="rect">
            <a:avLst/>
          </a:prstGeom>
          <a:solidFill>
            <a:srgbClr val="009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0" y="2450592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02B49"/>
                </a:solidFill>
                <a:latin typeface="Arial"/>
              </a:rPr>
              <a:t>Talking Points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2944368"/>
            <a:ext cx="30175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5A6E7F"/>
                </a:solidFill>
                <a:latin typeface="Arial"/>
              </a:rPr>
              <a:t>“three talking points · ask your client · advisor next step”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2440" y="2286000"/>
            <a:ext cx="338328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C9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92440" y="2286000"/>
            <a:ext cx="82296" cy="1325880"/>
          </a:xfrm>
          <a:prstGeom prst="rect">
            <a:avLst/>
          </a:prstGeom>
          <a:solidFill>
            <a:srgbClr val="009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66760" y="2450592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02B49"/>
                </a:solidFill>
                <a:latin typeface="Arial"/>
              </a:rPr>
              <a:t>Acknowledge-First Prompt Card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2944368"/>
            <a:ext cx="30175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5A6E7F"/>
                </a:solidFill>
                <a:latin typeface="Arial"/>
              </a:rPr>
              <a:t>the opening move, scripted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8680" y="3840480"/>
            <a:ext cx="338328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C9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68680" y="3840480"/>
            <a:ext cx="82296" cy="1325880"/>
          </a:xfrm>
          <a:prstGeom prst="rect">
            <a:avLst/>
          </a:prstGeom>
          <a:solidFill>
            <a:srgbClr val="009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005072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02B49"/>
                </a:solidFill>
                <a:latin typeface="Arial"/>
              </a:rPr>
              <a:t>Four-Box Response Builder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4498848"/>
            <a:ext cx="30175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5A6E7F"/>
                </a:solidFill>
                <a:latin typeface="Arial"/>
              </a:rPr>
              <a:t>assemble a full response, live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80560" y="3840480"/>
            <a:ext cx="338328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C9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480560" y="3840480"/>
            <a:ext cx="82296" cy="1325880"/>
          </a:xfrm>
          <a:prstGeom prst="rect">
            <a:avLst/>
          </a:prstGeom>
          <a:solidFill>
            <a:srgbClr val="009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54880" y="4005072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02B49"/>
                </a:solidFill>
                <a:latin typeface="Arial"/>
              </a:rPr>
              <a:t>Perspectives Sheet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54880" y="4498848"/>
            <a:ext cx="30175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5A6E7F"/>
                </a:solidFill>
                <a:latin typeface="Arial"/>
              </a:rPr>
              <a:t>evidence on hand, not on slides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92440" y="3840480"/>
            <a:ext cx="3337560" cy="1325880"/>
          </a:xfrm>
          <a:prstGeom prst="roundRect">
            <a:avLst>
              <a:gd name="adj" fmla="val 8000"/>
            </a:avLst>
          </a:prstGeom>
          <a:solidFill>
            <a:srgbClr val="002B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66760" y="4096512"/>
            <a:ext cx="28346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“Market timing needs two correct decisions.”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AFBDC7"/>
                </a:solidFill>
                <a:latin typeface="Arial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029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09B8F"/>
                </a:solidFill>
                <a:latin typeface="Arial"/>
              </a:rPr>
              <a:t>THE BUILD · AFTER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886968"/>
            <a:ext cx="502920" cy="41148"/>
          </a:xfrm>
          <a:prstGeom prst="rect">
            <a:avLst/>
          </a:prstGeom>
          <a:solidFill>
            <a:srgbClr val="009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914400"/>
            <a:ext cx="107899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002B49"/>
                </a:solidFill>
                <a:latin typeface="Arial"/>
              </a:rPr>
              <a:t>Making it stick — one move at a time.</a:t>
            </a:r>
          </a:p>
        </p:txBody>
      </p:sp>
      <p:sp>
        <p:nvSpPr>
          <p:cNvPr id="7" name="Oval 6"/>
          <p:cNvSpPr/>
          <p:nvPr/>
        </p:nvSpPr>
        <p:spPr>
          <a:xfrm>
            <a:off x="1188720" y="2377440"/>
            <a:ext cx="1737360" cy="1737360"/>
          </a:xfrm>
          <a:prstGeom prst="ellipse">
            <a:avLst/>
          </a:prstGeom>
          <a:solidFill>
            <a:srgbClr val="002B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880360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CUE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273552"/>
            <a:ext cx="1737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BFD2DE"/>
                </a:solidFill>
                <a:latin typeface="Arial"/>
              </a:rPr>
              <a:t>calendar reminder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017520" y="3063240"/>
            <a:ext cx="777240" cy="365760"/>
          </a:xfrm>
          <a:prstGeom prst="rightArrow">
            <a:avLst/>
          </a:prstGeom>
          <a:solidFill>
            <a:srgbClr val="009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931920" y="2377440"/>
            <a:ext cx="1737360" cy="1737360"/>
          </a:xfrm>
          <a:prstGeom prst="ellipse">
            <a:avLst/>
          </a:prstGeom>
          <a:solidFill>
            <a:srgbClr val="009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931920" y="2880360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ACTION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273552"/>
            <a:ext cx="1737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D6EFEB"/>
                </a:solidFill>
                <a:latin typeface="Arial"/>
              </a:rPr>
              <a:t>one client-ready move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760720" y="3063240"/>
            <a:ext cx="777240" cy="365760"/>
          </a:xfrm>
          <a:prstGeom prst="rightArrow">
            <a:avLst/>
          </a:prstGeom>
          <a:solidFill>
            <a:srgbClr val="009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675120" y="2377440"/>
            <a:ext cx="1737360" cy="1737360"/>
          </a:xfrm>
          <a:prstGeom prst="ellipse">
            <a:avLst/>
          </a:prstGeom>
          <a:solidFill>
            <a:srgbClr val="002B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5120" y="2880360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REWARD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3273552"/>
            <a:ext cx="1737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BFD2DE"/>
                </a:solidFill>
                <a:latin typeface="Arial"/>
              </a:rPr>
              <a:t>one logged win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4251960"/>
            <a:ext cx="7223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1">
                <a:solidFill>
                  <a:srgbClr val="5A6E7F"/>
                </a:solidFill>
                <a:latin typeface="Arial"/>
              </a:rPr>
              <a:t>repeat — Steps for Success, 8 weeks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778240" y="2103120"/>
            <a:ext cx="2697480" cy="3291840"/>
          </a:xfrm>
          <a:prstGeom prst="roundRect">
            <a:avLst>
              <a:gd name="adj" fmla="val 8000"/>
            </a:avLst>
          </a:prstGeom>
          <a:solidFill>
            <a:srgbClr val="F4F6F7"/>
          </a:solidFill>
          <a:ln w="12700">
            <a:solidFill>
              <a:srgbClr val="C9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06840" y="2286000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0776E"/>
                </a:solidFill>
                <a:latin typeface="Arial"/>
              </a:rPr>
              <a:t>THE KIT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06840" y="2670048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002B49"/>
                </a:solidFill>
                <a:latin typeface="Arial"/>
              </a:rPr>
              <a:t>•  Win Log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06840" y="3172968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002B49"/>
                </a:solidFill>
                <a:latin typeface="Arial"/>
              </a:rPr>
              <a:t>•  Objection Tracker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06840" y="3675887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002B49"/>
                </a:solidFill>
                <a:latin typeface="Arial"/>
              </a:rPr>
              <a:t>•  Habit Commitment Card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06840" y="4178808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002B49"/>
                </a:solidFill>
                <a:latin typeface="Arial"/>
              </a:rPr>
              <a:t>•  Next-Step Planner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06840" y="4681728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002B49"/>
                </a:solidFill>
                <a:latin typeface="Arial"/>
              </a:rPr>
              <a:t>•  Advisor Journey page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8064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5A6E7F"/>
                </a:solidFill>
                <a:latin typeface="Arial"/>
              </a:rPr>
              <a:t>Advisor Journey: progress ring · day streak · wins tally · one “today” card · private objection bank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AFBDC7"/>
                </a:solidFill>
                <a:latin typeface="Arial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029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09B8F"/>
                </a:solidFill>
                <a:latin typeface="Arial"/>
              </a:rPr>
              <a:t>THE BUILD · AFTER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886968"/>
            <a:ext cx="502920" cy="41148"/>
          </a:xfrm>
          <a:prstGeom prst="rect">
            <a:avLst/>
          </a:prstGeom>
          <a:solidFill>
            <a:srgbClr val="009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914400"/>
            <a:ext cx="107899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002B49"/>
                </a:solidFill>
                <a:latin typeface="Arial"/>
              </a:rPr>
              <a:t>The delivery engine — version by version.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455267" y="2514600"/>
            <a:ext cx="9281160" cy="0"/>
          </a:xfrm>
          <a:prstGeom prst="line">
            <a:avLst/>
          </a:prstGeom>
          <a:ln w="25400">
            <a:solidFill>
              <a:srgbClr val="C9D3D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327251" y="2386584"/>
            <a:ext cx="256032" cy="256032"/>
          </a:xfrm>
          <a:prstGeom prst="ellipse">
            <a:avLst/>
          </a:prstGeom>
          <a:solidFill>
            <a:srgbClr val="002B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7443" y="1892807"/>
            <a:ext cx="175564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002B49"/>
                </a:solidFill>
                <a:latin typeface="Arial"/>
              </a:rPr>
              <a:t>v8–9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7443" y="2971800"/>
            <a:ext cx="1755648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2307" y="3108960"/>
            <a:ext cx="164591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1" i="0">
                <a:solidFill>
                  <a:srgbClr val="002B49"/>
                </a:solidFill>
                <a:latin typeface="Arial"/>
              </a:rPr>
              <a:t>Empty Shell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2307" y="3840480"/>
            <a:ext cx="164591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i="0">
                <a:solidFill>
                  <a:srgbClr val="5A6E7F"/>
                </a:solidFill>
                <a:latin typeface="Arial"/>
              </a:rPr>
              <a:t>first working shell:</a:t>
            </a:r>
          </a:p>
          <a:p>
            <a:pPr algn="ctr">
              <a:lnSpc>
                <a:spcPct val="105000"/>
              </a:lnSpc>
            </a:pPr>
            <a:r>
              <a:rPr sz="950" b="0" i="0">
                <a:solidFill>
                  <a:srgbClr val="5A6E7F"/>
                </a:solidFill>
                <a:latin typeface="Arial"/>
              </a:rPr>
              <a:t>reminders → one .ics</a:t>
            </a:r>
          </a:p>
        </p:txBody>
      </p:sp>
      <p:sp>
        <p:nvSpPr>
          <p:cNvPr id="13" name="Oval 12"/>
          <p:cNvSpPr/>
          <p:nvPr/>
        </p:nvSpPr>
        <p:spPr>
          <a:xfrm>
            <a:off x="3183483" y="2386584"/>
            <a:ext cx="256032" cy="256032"/>
          </a:xfrm>
          <a:prstGeom prst="ellipse">
            <a:avLst/>
          </a:prstGeom>
          <a:solidFill>
            <a:srgbClr val="002B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33675" y="1892807"/>
            <a:ext cx="175564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002B49"/>
                </a:solidFill>
                <a:latin typeface="Arial"/>
              </a:rPr>
              <a:t>v10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433675" y="2971800"/>
            <a:ext cx="1755648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88539" y="3108960"/>
            <a:ext cx="164591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1" i="0">
                <a:solidFill>
                  <a:srgbClr val="002B49"/>
                </a:solidFill>
                <a:latin typeface="Arial"/>
              </a:rPr>
              <a:t>Asset Manager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88539" y="3840480"/>
            <a:ext cx="164591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i="0">
                <a:solidFill>
                  <a:srgbClr val="5A6E7F"/>
                </a:solidFill>
                <a:latin typeface="Arial"/>
              </a:rPr>
              <a:t>reframed around advisor</a:t>
            </a:r>
          </a:p>
          <a:p>
            <a:pPr algn="ctr">
              <a:lnSpc>
                <a:spcPct val="105000"/>
              </a:lnSpc>
            </a:pPr>
            <a:r>
              <a:rPr sz="950" b="0" i="0">
                <a:solidFill>
                  <a:srgbClr val="5A6E7F"/>
                </a:solidFill>
                <a:latin typeface="Arial"/>
              </a:rPr>
              <a:t>assets on reminders</a:t>
            </a:r>
          </a:p>
        </p:txBody>
      </p:sp>
      <p:sp>
        <p:nvSpPr>
          <p:cNvPr id="18" name="Oval 17"/>
          <p:cNvSpPr/>
          <p:nvPr/>
        </p:nvSpPr>
        <p:spPr>
          <a:xfrm>
            <a:off x="5039715" y="2386584"/>
            <a:ext cx="256032" cy="256032"/>
          </a:xfrm>
          <a:prstGeom prst="ellipse">
            <a:avLst/>
          </a:prstGeom>
          <a:solidFill>
            <a:srgbClr val="002B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89907" y="1892807"/>
            <a:ext cx="175564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002B49"/>
                </a:solidFill>
                <a:latin typeface="Arial"/>
              </a:rPr>
              <a:t>v13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89907" y="2971800"/>
            <a:ext cx="1755648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44771" y="3108960"/>
            <a:ext cx="164591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1" i="0">
                <a:solidFill>
                  <a:srgbClr val="002B49"/>
                </a:solidFill>
                <a:latin typeface="Arial"/>
              </a:rPr>
              <a:t>Embed Once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44771" y="3840480"/>
            <a:ext cx="164591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i="0">
                <a:solidFill>
                  <a:srgbClr val="5A6E7F"/>
                </a:solidFill>
                <a:latin typeface="Arial"/>
              </a:rPr>
              <a:t>embedding optimised</a:t>
            </a:r>
          </a:p>
          <a:p>
            <a:pPr algn="ctr">
              <a:lnSpc>
                <a:spcPct val="105000"/>
              </a:lnSpc>
            </a:pPr>
            <a:r>
              <a:rPr sz="950" b="0" i="0">
                <a:solidFill>
                  <a:srgbClr val="5A6E7F"/>
                </a:solidFill>
                <a:latin typeface="Arial"/>
              </a:rPr>
              <a:t>for file weight</a:t>
            </a:r>
          </a:p>
        </p:txBody>
      </p:sp>
      <p:sp>
        <p:nvSpPr>
          <p:cNvPr id="23" name="Oval 22"/>
          <p:cNvSpPr/>
          <p:nvPr/>
        </p:nvSpPr>
        <p:spPr>
          <a:xfrm>
            <a:off x="6895947" y="2386584"/>
            <a:ext cx="256032" cy="256032"/>
          </a:xfrm>
          <a:prstGeom prst="ellipse">
            <a:avLst/>
          </a:prstGeom>
          <a:solidFill>
            <a:srgbClr val="002B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46139" y="1892807"/>
            <a:ext cx="175564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002B49"/>
                </a:solidFill>
                <a:latin typeface="Arial"/>
              </a:rPr>
              <a:t>v15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46139" y="2971800"/>
            <a:ext cx="1755648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01003" y="3108960"/>
            <a:ext cx="164591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1" i="0">
                <a:solidFill>
                  <a:srgbClr val="002B49"/>
                </a:solidFill>
                <a:latin typeface="Arial"/>
              </a:rPr>
              <a:t>Per-Event Embed — fixed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01003" y="3840480"/>
            <a:ext cx="164591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i="0">
                <a:solidFill>
                  <a:srgbClr val="5A6E7F"/>
                </a:solidFill>
                <a:latin typeface="Arial"/>
              </a:rPr>
              <a:t>each reminder carries</a:t>
            </a:r>
          </a:p>
          <a:p>
            <a:pPr algn="ctr">
              <a:lnSpc>
                <a:spcPct val="105000"/>
              </a:lnSpc>
            </a:pPr>
            <a:r>
              <a:rPr sz="950" b="0" i="0">
                <a:solidFill>
                  <a:srgbClr val="5A6E7F"/>
                </a:solidFill>
                <a:latin typeface="Arial"/>
              </a:rPr>
              <a:t>its own resource</a:t>
            </a:r>
          </a:p>
        </p:txBody>
      </p:sp>
      <p:sp>
        <p:nvSpPr>
          <p:cNvPr id="28" name="Oval 27"/>
          <p:cNvSpPr/>
          <p:nvPr/>
        </p:nvSpPr>
        <p:spPr>
          <a:xfrm>
            <a:off x="8752179" y="2386584"/>
            <a:ext cx="256032" cy="256032"/>
          </a:xfrm>
          <a:prstGeom prst="ellipse">
            <a:avLst/>
          </a:prstGeom>
          <a:solidFill>
            <a:srgbClr val="002B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02371" y="1892807"/>
            <a:ext cx="175564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002B49"/>
                </a:solidFill>
                <a:latin typeface="Arial"/>
              </a:rPr>
              <a:t>v16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02371" y="2971800"/>
            <a:ext cx="1755648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57235" y="3108960"/>
            <a:ext cx="164591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1" i="0">
                <a:solidFill>
                  <a:srgbClr val="002B49"/>
                </a:solidFill>
                <a:latin typeface="Arial"/>
              </a:rPr>
              <a:t>Engagement Calendar (CD)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57235" y="3840480"/>
            <a:ext cx="164591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i="0">
                <a:solidFill>
                  <a:srgbClr val="5A6E7F"/>
                </a:solidFill>
                <a:latin typeface="Arial"/>
              </a:rPr>
              <a:t>formal touchpoint model ·</a:t>
            </a:r>
          </a:p>
          <a:p>
            <a:pPr algn="ctr">
              <a:lnSpc>
                <a:spcPct val="105000"/>
              </a:lnSpc>
            </a:pPr>
            <a:r>
              <a:rPr sz="950" b="0" i="0">
                <a:solidFill>
                  <a:srgbClr val="5A6E7F"/>
                </a:solidFill>
                <a:latin typeface="Arial"/>
              </a:rPr>
              <a:t>6-month journey · two roles</a:t>
            </a:r>
          </a:p>
        </p:txBody>
      </p:sp>
      <p:sp>
        <p:nvSpPr>
          <p:cNvPr id="33" name="Oval 32"/>
          <p:cNvSpPr/>
          <p:nvPr/>
        </p:nvSpPr>
        <p:spPr>
          <a:xfrm>
            <a:off x="10608411" y="2386584"/>
            <a:ext cx="256032" cy="256032"/>
          </a:xfrm>
          <a:prstGeom prst="ellipse">
            <a:avLst/>
          </a:prstGeom>
          <a:solidFill>
            <a:srgbClr val="009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58603" y="1892807"/>
            <a:ext cx="175564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00776E"/>
                </a:solidFill>
                <a:latin typeface="Arial"/>
              </a:rPr>
              <a:t>v17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858603" y="2971800"/>
            <a:ext cx="1755648" cy="1965960"/>
          </a:xfrm>
          <a:prstGeom prst="roundRect">
            <a:avLst>
              <a:gd name="adj" fmla="val 8000"/>
            </a:avLst>
          </a:prstGeom>
          <a:solidFill>
            <a:srgbClr val="E4F3F1"/>
          </a:solidFill>
          <a:ln w="19050">
            <a:solidFill>
              <a:srgbClr val="009B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913467" y="3108960"/>
            <a:ext cx="164591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1" i="0">
                <a:solidFill>
                  <a:srgbClr val="002B49"/>
                </a:solidFill>
                <a:latin typeface="Arial"/>
              </a:rPr>
              <a:t>Engagement Calendar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913467" y="3840480"/>
            <a:ext cx="164591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i="0">
                <a:solidFill>
                  <a:srgbClr val="5A6E7F"/>
                </a:solidFill>
                <a:latin typeface="Arial"/>
              </a:rPr>
              <a:t>exports embed file bytes —</a:t>
            </a:r>
          </a:p>
          <a:p>
            <a:pPr algn="ctr">
              <a:lnSpc>
                <a:spcPct val="105000"/>
              </a:lnSpc>
            </a:pPr>
            <a:r>
              <a:rPr sz="950" b="0" i="0">
                <a:solidFill>
                  <a:srgbClr val="5A6E7F"/>
                </a:solidFill>
                <a:latin typeface="Arial"/>
              </a:rPr>
              <a:t>imports restore everything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562356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1">
                <a:solidFill>
                  <a:srgbClr val="5A6E7F"/>
                </a:solidFill>
                <a:latin typeface="Arial"/>
              </a:rPr>
              <a:t>every version above is a real artifact — including the ones that didn’t survive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AFBDC7"/>
                </a:solidFill>
                <a:latin typeface="Arial"/>
              </a:rPr>
              <a:t>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029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09B8F"/>
                </a:solidFill>
                <a:latin typeface="Arial"/>
              </a:rPr>
              <a:t>DESIGN JUDGEMENT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886968"/>
            <a:ext cx="502920" cy="41148"/>
          </a:xfrm>
          <a:prstGeom prst="rect">
            <a:avLst/>
          </a:prstGeom>
          <a:solidFill>
            <a:srgbClr val="009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914400"/>
            <a:ext cx="107899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002B49"/>
                </a:solidFill>
                <a:latin typeface="Arial"/>
              </a:rPr>
              <a:t>Twelve touchpoints. We kept three.</a:t>
            </a:r>
          </a:p>
        </p:txBody>
      </p:sp>
      <p:sp>
        <p:nvSpPr>
          <p:cNvPr id="7" name="Oval 6"/>
          <p:cNvSpPr/>
          <p:nvPr/>
        </p:nvSpPr>
        <p:spPr>
          <a:xfrm>
            <a:off x="868680" y="2377440"/>
            <a:ext cx="237744" cy="237744"/>
          </a:xfrm>
          <a:prstGeom prst="ellipse">
            <a:avLst/>
          </a:prstGeom>
          <a:solidFill>
            <a:srgbClr val="009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252728" y="2377440"/>
            <a:ext cx="237744" cy="237744"/>
          </a:xfrm>
          <a:prstGeom prst="ellipse">
            <a:avLst/>
          </a:prstGeom>
          <a:solidFill>
            <a:srgbClr val="C9D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36776" y="2377440"/>
            <a:ext cx="237744" cy="237744"/>
          </a:xfrm>
          <a:prstGeom prst="ellipse">
            <a:avLst/>
          </a:prstGeom>
          <a:solidFill>
            <a:srgbClr val="C9D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020824" y="2377440"/>
            <a:ext cx="237744" cy="237744"/>
          </a:xfrm>
          <a:prstGeom prst="ellipse">
            <a:avLst/>
          </a:prstGeom>
          <a:solidFill>
            <a:srgbClr val="009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404872" y="2377440"/>
            <a:ext cx="237744" cy="237744"/>
          </a:xfrm>
          <a:prstGeom prst="ellipse">
            <a:avLst/>
          </a:prstGeom>
          <a:solidFill>
            <a:srgbClr val="C9D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788920" y="2377440"/>
            <a:ext cx="237744" cy="237744"/>
          </a:xfrm>
          <a:prstGeom prst="ellipse">
            <a:avLst/>
          </a:prstGeom>
          <a:solidFill>
            <a:srgbClr val="C9D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172968" y="2377440"/>
            <a:ext cx="237744" cy="237744"/>
          </a:xfrm>
          <a:prstGeom prst="ellipse">
            <a:avLst/>
          </a:prstGeom>
          <a:solidFill>
            <a:srgbClr val="C9D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57015" y="2377440"/>
            <a:ext cx="237744" cy="237744"/>
          </a:xfrm>
          <a:prstGeom prst="ellipse">
            <a:avLst/>
          </a:prstGeom>
          <a:solidFill>
            <a:srgbClr val="C9D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941063" y="2377440"/>
            <a:ext cx="237744" cy="237744"/>
          </a:xfrm>
          <a:prstGeom prst="ellipse">
            <a:avLst/>
          </a:prstGeom>
          <a:solidFill>
            <a:srgbClr val="009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325112" y="2377440"/>
            <a:ext cx="237744" cy="237744"/>
          </a:xfrm>
          <a:prstGeom prst="ellipse">
            <a:avLst/>
          </a:prstGeom>
          <a:solidFill>
            <a:srgbClr val="C9D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709160" y="2377440"/>
            <a:ext cx="237744" cy="237744"/>
          </a:xfrm>
          <a:prstGeom prst="ellipse">
            <a:avLst/>
          </a:prstGeom>
          <a:solidFill>
            <a:srgbClr val="C9D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093208" y="2377440"/>
            <a:ext cx="237744" cy="237744"/>
          </a:xfrm>
          <a:prstGeom prst="ellipse">
            <a:avLst/>
          </a:prstGeom>
          <a:solidFill>
            <a:srgbClr val="C9D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274320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AFBDC7"/>
                </a:solidFill>
                <a:latin typeface="Arial"/>
              </a:rPr>
              <a:t>Day 0 → Day 3 → Weeks 1–8 → Months 3–6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5806440" y="2331720"/>
            <a:ext cx="502920" cy="411480"/>
          </a:xfrm>
          <a:prstGeom prst="rightArrow">
            <a:avLst/>
          </a:prstGeom>
          <a:solidFill>
            <a:srgbClr val="002B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720840" y="1965960"/>
            <a:ext cx="1325880" cy="1325880"/>
          </a:xfrm>
          <a:prstGeom prst="ellipse">
            <a:avLst/>
          </a:prstGeom>
          <a:solidFill>
            <a:srgbClr val="009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20840" y="2267712"/>
            <a:ext cx="1325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DAY 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59" y="3429000"/>
            <a:ext cx="1691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5A6E7F"/>
                </a:solidFill>
                <a:latin typeface="Arial"/>
              </a:rPr>
              <a:t>prepare + capture</a:t>
            </a:r>
          </a:p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5A6E7F"/>
                </a:solidFill>
                <a:latin typeface="Arial"/>
              </a:rPr>
              <a:t>one real concern</a:t>
            </a:r>
          </a:p>
        </p:txBody>
      </p:sp>
      <p:sp>
        <p:nvSpPr>
          <p:cNvPr id="24" name="Oval 23"/>
          <p:cNvSpPr/>
          <p:nvPr/>
        </p:nvSpPr>
        <p:spPr>
          <a:xfrm>
            <a:off x="8321040" y="1965960"/>
            <a:ext cx="1325880" cy="1325880"/>
          </a:xfrm>
          <a:prstGeom prst="ellipse">
            <a:avLst/>
          </a:prstGeom>
          <a:solidFill>
            <a:srgbClr val="009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21040" y="2267712"/>
            <a:ext cx="1325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WEEK 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38160" y="3429000"/>
            <a:ext cx="1691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5A6E7F"/>
                </a:solidFill>
                <a:latin typeface="Arial"/>
              </a:rPr>
              <a:t>build one full</a:t>
            </a:r>
          </a:p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5A6E7F"/>
                </a:solidFill>
                <a:latin typeface="Arial"/>
              </a:rPr>
              <a:t>four-box response</a:t>
            </a:r>
          </a:p>
        </p:txBody>
      </p:sp>
      <p:sp>
        <p:nvSpPr>
          <p:cNvPr id="27" name="Oval 26"/>
          <p:cNvSpPr/>
          <p:nvPr/>
        </p:nvSpPr>
        <p:spPr>
          <a:xfrm>
            <a:off x="9921240" y="1965960"/>
            <a:ext cx="1325880" cy="1325880"/>
          </a:xfrm>
          <a:prstGeom prst="ellipse">
            <a:avLst/>
          </a:prstGeom>
          <a:solidFill>
            <a:srgbClr val="009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921240" y="2267712"/>
            <a:ext cx="1325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MONTH 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38360" y="3429000"/>
            <a:ext cx="1691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5A6E7F"/>
                </a:solidFill>
                <a:latin typeface="Arial"/>
              </a:rPr>
              <a:t>keep one habit +</a:t>
            </a:r>
          </a:p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5A6E7F"/>
                </a:solidFill>
                <a:latin typeface="Arial"/>
              </a:rPr>
              <a:t>reinforce the core message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" y="4206240"/>
            <a:ext cx="10561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02B49"/>
                </a:solidFill>
                <a:latin typeface="Arial"/>
              </a:rPr>
              <a:t>Same method — none of it lost. Iteration isn’t only adding; the mature move was removing.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68680" y="4983480"/>
            <a:ext cx="10561320" cy="914400"/>
          </a:xfrm>
          <a:prstGeom prst="roundRect">
            <a:avLst>
              <a:gd name="adj" fmla="val 8000"/>
            </a:avLst>
          </a:prstGeom>
          <a:solidFill>
            <a:srgbClr val="F4F6F7"/>
          </a:solidFill>
          <a:ln w="12700">
            <a:solidFill>
              <a:srgbClr val="C9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88720" y="5138928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0776E"/>
                </a:solidFill>
                <a:latin typeface="Arial"/>
              </a:rPr>
              <a:t>ALSO REMOVED: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88720" y="5468112"/>
            <a:ext cx="9875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002B49"/>
                </a:solidFill>
                <a:latin typeface="Arial"/>
              </a:rPr>
              <a:t>the sign-in gate — open reflection beats a capture form.  Engagement &gt; capture.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B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FB3C2"/>
                </a:solidFill>
                <a:latin typeface="Arial"/>
              </a:rPr>
              <a:t>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41148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0" b="1" i="0">
                <a:solidFill>
                  <a:srgbClr val="144A6E"/>
                </a:solidFill>
                <a:latin typeface="Arial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4069080"/>
            <a:ext cx="640080" cy="45720"/>
          </a:xfrm>
          <a:prstGeom prst="rect">
            <a:avLst/>
          </a:prstGeom>
          <a:solidFill>
            <a:srgbClr val="009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429768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FFFFFF"/>
                </a:solidFill>
                <a:latin typeface="Arial"/>
              </a:rPr>
              <a:t>The obstacle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52578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009B8F"/>
                </a:solidFill>
                <a:latin typeface="Arial"/>
              </a:rPr>
              <a:t>told honestly — this is where it got hard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AFBDC7"/>
                </a:solidFill>
                <a:latin typeface="Arial"/>
              </a:rPr>
              <a:t>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029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09B8F"/>
                </a:solidFill>
                <a:latin typeface="Arial"/>
              </a:rPr>
              <a:t>THE OBSTACLE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886968"/>
            <a:ext cx="502920" cy="41148"/>
          </a:xfrm>
          <a:prstGeom prst="rect">
            <a:avLst/>
          </a:prstGeom>
          <a:solidFill>
            <a:srgbClr val="009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914400"/>
            <a:ext cx="107899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002B49"/>
                </a:solidFill>
                <a:latin typeface="Arial"/>
              </a:rPr>
              <a:t>A QR code carries a pointer — never the file.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194560"/>
            <a:ext cx="1005840" cy="1005840"/>
          </a:xfrm>
          <a:prstGeom prst="roundRect">
            <a:avLst>
              <a:gd name="adj" fmla="val 8000"/>
            </a:avLst>
          </a:prstGeom>
          <a:solidFill>
            <a:srgbClr val="002B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87168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QR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29184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002B49"/>
                </a:solidFill>
                <a:latin typeface="Arial"/>
              </a:rPr>
              <a:t>~2–3 KB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2514600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1">
                <a:solidFill>
                  <a:srgbClr val="5A6E7F"/>
                </a:solidFill>
                <a:latin typeface="Arial"/>
              </a:rPr>
              <a:t>vs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06040" y="1965960"/>
            <a:ext cx="2286000" cy="1463040"/>
          </a:xfrm>
          <a:prstGeom prst="roundRect">
            <a:avLst>
              <a:gd name="adj" fmla="val 8000"/>
            </a:avLst>
          </a:prstGeom>
          <a:solidFill>
            <a:srgbClr val="E4F3F1"/>
          </a:solidFill>
          <a:ln w="15240">
            <a:solidFill>
              <a:srgbClr val="009B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06040" y="2377440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00776E"/>
                </a:solidFill>
                <a:latin typeface="Arial"/>
              </a:rPr>
              <a:t>.ics + PDFs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06040" y="2761488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A6E7F"/>
                </a:solidFill>
                <a:latin typeface="Arial"/>
              </a:rPr>
              <a:t>hundreds of KB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3794760"/>
            <a:ext cx="4023360" cy="1920240"/>
          </a:xfrm>
          <a:prstGeom prst="roundRect">
            <a:avLst>
              <a:gd name="adj" fmla="val 8000"/>
            </a:avLst>
          </a:prstGeom>
          <a:solidFill>
            <a:srgbClr val="F4F6F7"/>
          </a:solidFill>
          <a:ln w="12700">
            <a:solidFill>
              <a:srgbClr val="C9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3977640"/>
            <a:ext cx="3566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8604A"/>
                </a:solidFill>
                <a:latin typeface="Arial"/>
              </a:rPr>
              <a:t>FAILURE #1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4325112"/>
            <a:ext cx="3566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002B49"/>
                </a:solidFill>
                <a:latin typeface="Arial"/>
              </a:rPr>
              <a:t>QR → SharePoint share link →</a:t>
            </a:r>
          </a:p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002B49"/>
                </a:solidFill>
                <a:latin typeface="Arial"/>
              </a:rPr>
              <a:t>iOS: “Validation failed.”</a:t>
            </a:r>
          </a:p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002B49"/>
                </a:solidFill>
                <a:latin typeface="Arial"/>
              </a:rPr>
              <a:t>(share link returns a web page, and CG login blocks Apple’s fetcher)</a:t>
            </a:r>
          </a:p>
        </p:txBody>
      </p:sp>
      <p:sp>
        <p:nvSpPr>
          <p:cNvPr id="17" name="Isosceles Triangle 16"/>
          <p:cNvSpPr/>
          <p:nvPr/>
        </p:nvSpPr>
        <p:spPr>
          <a:xfrm>
            <a:off x="6858000" y="2286000"/>
            <a:ext cx="2560320" cy="2103120"/>
          </a:xfrm>
          <a:prstGeom prst="triangle">
            <a:avLst/>
          </a:prstGeom>
          <a:solidFill>
            <a:srgbClr val="F4F6F7"/>
          </a:solidFill>
          <a:ln w="15240">
            <a:solidFill>
              <a:srgbClr val="C9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360920" y="2011680"/>
            <a:ext cx="1554480" cy="384048"/>
          </a:xfrm>
          <a:prstGeom prst="roundRect">
            <a:avLst>
              <a:gd name="adj" fmla="val 50000"/>
            </a:avLst>
          </a:prstGeom>
          <a:solidFill>
            <a:srgbClr val="002B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SCAN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806440" y="4480560"/>
            <a:ext cx="1965960" cy="384048"/>
          </a:xfrm>
          <a:prstGeom prst="roundRect">
            <a:avLst>
              <a:gd name="adj" fmla="val 50000"/>
            </a:avLst>
          </a:prstGeom>
          <a:solidFill>
            <a:srgbClr val="002B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ATTACHMENTS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686800" y="4480560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002B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NO LOGIN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0" y="3291840"/>
            <a:ext cx="2377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5A6E7F"/>
                </a:solidFill>
                <a:latin typeface="Arial"/>
              </a:rPr>
              <a:t>pick two</a:t>
            </a:r>
          </a:p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5A6E7F"/>
                </a:solidFill>
                <a:latin typeface="Arial"/>
              </a:rPr>
              <a:t>on internal hosting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77840" y="5349240"/>
            <a:ext cx="5760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350" b="1" i="0">
                <a:solidFill>
                  <a:srgbClr val="002B49"/>
                </a:solidFill>
                <a:latin typeface="Arial"/>
              </a:rPr>
              <a:t>The trilemma: scan + calendar-with-PDFs + no-login</a:t>
            </a:r>
          </a:p>
          <a:p>
            <a:pPr algn="ctr">
              <a:lnSpc>
                <a:spcPct val="110000"/>
              </a:lnSpc>
            </a:pPr>
            <a:r>
              <a:rPr sz="1350" b="1" i="0">
                <a:solidFill>
                  <a:srgbClr val="002B49"/>
                </a:solidFill>
                <a:latin typeface="Arial"/>
              </a:rPr>
              <a:t>can’t all be true on SharePoint.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AFBDC7"/>
                </a:solidFill>
                <a:latin typeface="Arial"/>
              </a:rPr>
              <a:t>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029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09B8F"/>
                </a:solidFill>
                <a:latin typeface="Arial"/>
              </a:rPr>
              <a:t>THE OBSTACLE · RESOLVED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886968"/>
            <a:ext cx="502920" cy="41148"/>
          </a:xfrm>
          <a:prstGeom prst="rect">
            <a:avLst/>
          </a:prstGeom>
          <a:solidFill>
            <a:srgbClr val="009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914400"/>
            <a:ext cx="107899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002B49"/>
                </a:solidFill>
                <a:latin typeface="Arial"/>
              </a:rPr>
              <a:t>Manual workaround → validated tool → governed automation.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286000"/>
            <a:ext cx="3429000" cy="3017520"/>
          </a:xfrm>
          <a:prstGeom prst="roundRect">
            <a:avLst>
              <a:gd name="adj" fmla="val 8000"/>
            </a:avLst>
          </a:prstGeom>
          <a:solidFill>
            <a:srgbClr val="F4F6F7"/>
          </a:solidFill>
          <a:ln w="12700">
            <a:solidFill>
              <a:srgbClr val="C9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514600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0776E"/>
                </a:solidFill>
                <a:latin typeface="Arial"/>
              </a:rPr>
              <a:t>1 · THE HONEST FAILURE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2971800"/>
            <a:ext cx="292608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0">
                <a:solidFill>
                  <a:srgbClr val="002B49"/>
                </a:solidFill>
                <a:latin typeface="Arial"/>
              </a:rPr>
              <a:t>Hand-written QR encoder failed independent decoding — replaced with the validated qrcode.js library, output verified scannable.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26280" y="2286000"/>
            <a:ext cx="3429000" cy="3017520"/>
          </a:xfrm>
          <a:prstGeom prst="roundRect">
            <a:avLst>
              <a:gd name="adj" fmla="val 8000"/>
            </a:avLst>
          </a:prstGeom>
          <a:solidFill>
            <a:srgbClr val="F4F6F7"/>
          </a:solidFill>
          <a:ln w="12700">
            <a:solidFill>
              <a:srgbClr val="C9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00600" y="2514600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0776E"/>
                </a:solidFill>
                <a:latin typeface="Arial"/>
              </a:rPr>
              <a:t>2 · THE INTERIM TOOL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00600" y="2971800"/>
            <a:ext cx="292608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0">
                <a:solidFill>
                  <a:srgbClr val="002B49"/>
                </a:solidFill>
                <a:latin typeface="Arial"/>
              </a:rPr>
              <a:t>Dedicated QR Generator: auto-converts links to direct-download form, warns on links that won’t resolve on a phone, live preview of the exact encoded URL.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3879" y="2011680"/>
            <a:ext cx="3291840" cy="3566160"/>
          </a:xfrm>
          <a:prstGeom prst="roundRect">
            <a:avLst>
              <a:gd name="adj" fmla="val 8000"/>
            </a:avLst>
          </a:prstGeom>
          <a:solidFill>
            <a:srgbClr val="002B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58200" y="224028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09B8F"/>
                </a:solidFill>
                <a:latin typeface="Arial"/>
              </a:rPr>
              <a:t>3 · THE M365-NATIVE ENDING</a:t>
            </a:r>
          </a:p>
        </p:txBody>
      </p:sp>
      <p:sp>
        <p:nvSpPr>
          <p:cNvPr id="15" name="Oval 14"/>
          <p:cNvSpPr/>
          <p:nvPr/>
        </p:nvSpPr>
        <p:spPr>
          <a:xfrm>
            <a:off x="8476488" y="2761488"/>
            <a:ext cx="146304" cy="146304"/>
          </a:xfrm>
          <a:prstGeom prst="ellipse">
            <a:avLst/>
          </a:prstGeom>
          <a:solidFill>
            <a:srgbClr val="009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50807" y="2697480"/>
            <a:ext cx="2606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FFFFFF"/>
                </a:solidFill>
                <a:latin typeface="Arial"/>
              </a:rPr>
              <a:t>scan QR on closing slide</a:t>
            </a:r>
          </a:p>
        </p:txBody>
      </p:sp>
      <p:sp>
        <p:nvSpPr>
          <p:cNvPr id="17" name="Oval 16"/>
          <p:cNvSpPr/>
          <p:nvPr/>
        </p:nvSpPr>
        <p:spPr>
          <a:xfrm>
            <a:off x="8476488" y="3328416"/>
            <a:ext cx="146304" cy="146304"/>
          </a:xfrm>
          <a:prstGeom prst="ellipse">
            <a:avLst/>
          </a:prstGeom>
          <a:solidFill>
            <a:srgbClr val="009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50807" y="3264408"/>
            <a:ext cx="2606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FFFFFF"/>
                </a:solidFill>
                <a:latin typeface="Arial"/>
              </a:rPr>
              <a:t>pre-filled Microsoft Form</a:t>
            </a:r>
          </a:p>
        </p:txBody>
      </p:sp>
      <p:sp>
        <p:nvSpPr>
          <p:cNvPr id="19" name="Oval 18"/>
          <p:cNvSpPr/>
          <p:nvPr/>
        </p:nvSpPr>
        <p:spPr>
          <a:xfrm>
            <a:off x="8476488" y="3895344"/>
            <a:ext cx="146304" cy="146304"/>
          </a:xfrm>
          <a:prstGeom prst="ellipse">
            <a:avLst/>
          </a:prstGeom>
          <a:solidFill>
            <a:srgbClr val="009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50807" y="3831336"/>
            <a:ext cx="2606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FFFFFF"/>
                </a:solidFill>
                <a:latin typeface="Arial"/>
              </a:rPr>
              <a:t>Power Automate fetches the .ics</a:t>
            </a:r>
          </a:p>
        </p:txBody>
      </p:sp>
      <p:sp>
        <p:nvSpPr>
          <p:cNvPr id="21" name="Oval 20"/>
          <p:cNvSpPr/>
          <p:nvPr/>
        </p:nvSpPr>
        <p:spPr>
          <a:xfrm>
            <a:off x="8476488" y="4462272"/>
            <a:ext cx="146304" cy="146304"/>
          </a:xfrm>
          <a:prstGeom prst="ellipse">
            <a:avLst/>
          </a:prstGeom>
          <a:solidFill>
            <a:srgbClr val="009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50807" y="4398264"/>
            <a:ext cx="2606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FFFFFF"/>
                </a:solidFill>
                <a:latin typeface="Arial"/>
              </a:rPr>
              <a:t>emailed in ~30 seconds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58200" y="502920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09B8F"/>
                </a:solidFill>
                <a:latin typeface="Arial"/>
              </a:rPr>
              <a:t>No external hosting. Fully governed.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4224528" y="3657600"/>
            <a:ext cx="365760" cy="320040"/>
          </a:xfrm>
          <a:prstGeom prst="rightArrow">
            <a:avLst/>
          </a:prstGeom>
          <a:solidFill>
            <a:srgbClr val="009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ight Arrow 24"/>
          <p:cNvSpPr/>
          <p:nvPr/>
        </p:nvSpPr>
        <p:spPr>
          <a:xfrm>
            <a:off x="7863840" y="3657600"/>
            <a:ext cx="365760" cy="320040"/>
          </a:xfrm>
          <a:prstGeom prst="rightArrow">
            <a:avLst/>
          </a:prstGeom>
          <a:solidFill>
            <a:srgbClr val="009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5806440"/>
            <a:ext cx="10561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1">
                <a:solidFill>
                  <a:srgbClr val="5A6E7F"/>
                </a:solidFill>
                <a:latin typeface="Arial"/>
              </a:rPr>
              <a:t>The automation only fetches and forwards — the content stays with the calendar tool.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B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FB3C2"/>
                </a:solidFill>
                <a:latin typeface="Arial"/>
              </a:rPr>
              <a:t>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41148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0" b="1" i="0">
                <a:solidFill>
                  <a:srgbClr val="144A6E"/>
                </a:solidFill>
                <a:latin typeface="Arial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4069080"/>
            <a:ext cx="640080" cy="45720"/>
          </a:xfrm>
          <a:prstGeom prst="rect">
            <a:avLst/>
          </a:prstGeom>
          <a:solidFill>
            <a:srgbClr val="009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429768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FFFFFF"/>
                </a:solidFill>
                <a:latin typeface="Arial"/>
              </a:rPr>
              <a:t>The leap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52578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009B8F"/>
                </a:solidFill>
                <a:latin typeface="Arial"/>
              </a:rPr>
              <a:t>from one tool to infrastructure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B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FB3C2"/>
                </a:solidFill>
                <a:latin typeface="Arial"/>
              </a:rPr>
              <a:t>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09B8F"/>
                </a:solidFill>
                <a:latin typeface="Arial"/>
              </a:rPr>
              <a:t>THE LEAP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024128"/>
            <a:ext cx="502920" cy="41148"/>
          </a:xfrm>
          <a:prstGeom prst="rect">
            <a:avLst/>
          </a:prstGeom>
          <a:solidFill>
            <a:srgbClr val="009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FFFFFF"/>
                </a:solidFill>
                <a:latin typeface="Arial"/>
              </a:rPr>
              <a:t>One tool became infrastructure.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331720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BFD2DE"/>
                </a:solidFill>
                <a:latin typeface="Arial"/>
              </a:rPr>
              <a:t>The Workshop Calendar Tool Builder — a standalone, on-brand calendar tool for ANY workshop.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383280"/>
            <a:ext cx="3017520" cy="1371600"/>
          </a:xfrm>
          <a:prstGeom prst="roundRect">
            <a:avLst>
              <a:gd name="adj" fmla="val 8000"/>
            </a:avLst>
          </a:prstGeom>
          <a:solidFill>
            <a:srgbClr val="0E3E5E"/>
          </a:solidFill>
          <a:ln w="15240">
            <a:solidFill>
              <a:srgbClr val="009B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370332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009B8F"/>
                </a:solidFill>
                <a:latin typeface="Arial"/>
              </a:rPr>
              <a:t>CONTENT DESIGNER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096512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1">
                <a:solidFill>
                  <a:srgbClr val="FFFFFF"/>
                </a:solidFill>
                <a:latin typeface="Arial"/>
              </a:rPr>
              <a:t>generates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023360" y="3886200"/>
            <a:ext cx="502920" cy="384048"/>
          </a:xfrm>
          <a:prstGeom prst="rightArrow">
            <a:avLst/>
          </a:prstGeom>
          <a:solidFill>
            <a:srgbClr val="009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09160" y="3383280"/>
            <a:ext cx="3017520" cy="1371600"/>
          </a:xfrm>
          <a:prstGeom prst="roundRect">
            <a:avLst>
              <a:gd name="adj" fmla="val 8000"/>
            </a:avLst>
          </a:prstGeom>
          <a:solidFill>
            <a:srgbClr val="009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09160" y="370332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ANY WORKSHOP’S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9160" y="4041648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calendar tool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909560" y="3886200"/>
            <a:ext cx="502920" cy="384048"/>
          </a:xfrm>
          <a:prstGeom prst="rightArrow">
            <a:avLst/>
          </a:prstGeom>
          <a:solidFill>
            <a:srgbClr val="009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595360" y="3383280"/>
            <a:ext cx="3017520" cy="1371600"/>
          </a:xfrm>
          <a:prstGeom prst="roundRect">
            <a:avLst>
              <a:gd name="adj" fmla="val 8000"/>
            </a:avLst>
          </a:prstGeom>
          <a:solidFill>
            <a:srgbClr val="0E3E5E"/>
          </a:solidFill>
          <a:ln w="15240">
            <a:solidFill>
              <a:srgbClr val="009B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370332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009B8F"/>
                </a:solidFill>
                <a:latin typeface="Arial"/>
              </a:rPr>
              <a:t>CONSULTANT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4096512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1">
                <a:solidFill>
                  <a:srgbClr val="FFFFFF"/>
                </a:solidFill>
                <a:latin typeface="Arial"/>
              </a:rPr>
              <a:t>runs it — user guide included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2578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BFD2DE"/>
                </a:solidFill>
                <a:latin typeface="Arial"/>
              </a:rPr>
              <a:t>Branding locked to the CG template   ·   touchpoint sequence   ·   resource library   ·   preview &amp; export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AFBDC7"/>
                </a:solidFill>
                <a:latin typeface="Arial"/>
              </a:rPr>
              <a:t>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029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09B8F"/>
                </a:solidFill>
                <a:latin typeface="Arial"/>
              </a:rPr>
              <a:t>IT SCALES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886968"/>
            <a:ext cx="502920" cy="41148"/>
          </a:xfrm>
          <a:prstGeom prst="rect">
            <a:avLst/>
          </a:prstGeom>
          <a:solidFill>
            <a:srgbClr val="009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914400"/>
            <a:ext cx="107899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002B49"/>
                </a:solidFill>
                <a:latin typeface="Arial"/>
              </a:rPr>
              <a:t>Designed to travel — across markets, for two users.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286000"/>
            <a:ext cx="5120640" cy="3200400"/>
          </a:xfrm>
          <a:prstGeom prst="roundRect">
            <a:avLst>
              <a:gd name="adj" fmla="val 8000"/>
            </a:avLst>
          </a:prstGeom>
          <a:solidFill>
            <a:srgbClr val="F4F6F7"/>
          </a:solidFill>
          <a:ln w="12700">
            <a:solidFill>
              <a:srgbClr val="C9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542032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0776E"/>
                </a:solidFill>
                <a:latin typeface="Arial"/>
              </a:rPr>
              <a:t>MARKETS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88720" y="3017520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002B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ASIA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88920" y="3017520"/>
            <a:ext cx="1645920" cy="384048"/>
          </a:xfrm>
          <a:prstGeom prst="roundRect">
            <a:avLst>
              <a:gd name="adj" fmla="val 50000"/>
            </a:avLst>
          </a:prstGeom>
          <a:solidFill>
            <a:srgbClr val="002B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EUROPE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3611880"/>
            <a:ext cx="44805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002B49"/>
                </a:solidFill>
                <a:latin typeface="Arial"/>
              </a:rPr>
              <a:t>Region-specific advisor talking points and</a:t>
            </a:r>
          </a:p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002B49"/>
                </a:solidFill>
                <a:latin typeface="Arial"/>
              </a:rPr>
              <a:t>market decks — same method, local voice.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2286000"/>
            <a:ext cx="5120640" cy="3200400"/>
          </a:xfrm>
          <a:prstGeom prst="roundRect">
            <a:avLst>
              <a:gd name="adj" fmla="val 8000"/>
            </a:avLst>
          </a:prstGeom>
          <a:solidFill>
            <a:srgbClr val="F4F6F7"/>
          </a:solidFill>
          <a:ln w="12700">
            <a:solidFill>
              <a:srgbClr val="C9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2542032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0776E"/>
                </a:solidFill>
                <a:latin typeface="Arial"/>
              </a:rPr>
              <a:t>TWO USERS, ONE SYSTEM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0" y="3017520"/>
            <a:ext cx="44805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009B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12280" y="3127248"/>
            <a:ext cx="4114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02B49"/>
                </a:solidFill>
                <a:latin typeface="Arial"/>
              </a:rPr>
              <a:t>Content Designers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12280" y="3456432"/>
            <a:ext cx="4114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5A6E7F"/>
                </a:solidFill>
                <a:latin typeface="Arial"/>
              </a:rPr>
              <a:t>generate the tools  (CD_ editions)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0" y="4114800"/>
            <a:ext cx="44805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009B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12280" y="4224528"/>
            <a:ext cx="4114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02B49"/>
                </a:solidFill>
                <a:latin typeface="Arial"/>
              </a:rPr>
              <a:t>Consultants &amp; Advisers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12280" y="4553712"/>
            <a:ext cx="4114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5A6E7F"/>
                </a:solidFill>
                <a:latin typeface="Arial"/>
              </a:rPr>
              <a:t>use them — no setup, no training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85216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002B49"/>
                </a:solidFill>
                <a:latin typeface="Arial"/>
              </a:rPr>
              <a:t>Designing for both roles is what makes it adoptable.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AFBDC7"/>
                </a:solidFill>
                <a:latin typeface="Arial"/>
              </a:rPr>
              <a:t>23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029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09B8F"/>
                </a:solidFill>
                <a:latin typeface="Arial"/>
              </a:rPr>
              <a:t>THE OUTCOME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886968"/>
            <a:ext cx="502920" cy="41148"/>
          </a:xfrm>
          <a:prstGeom prst="rect">
            <a:avLst/>
          </a:prstGeom>
          <a:solidFill>
            <a:srgbClr val="009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914400"/>
            <a:ext cx="107899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002B49"/>
                </a:solidFill>
                <a:latin typeface="Arial"/>
              </a:rPr>
              <a:t>A complete experience where none existed.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377440"/>
            <a:ext cx="3383280" cy="2377440"/>
          </a:xfrm>
          <a:prstGeom prst="roundRect">
            <a:avLst>
              <a:gd name="adj" fmla="val 8000"/>
            </a:avLst>
          </a:prstGeom>
          <a:solidFill>
            <a:srgbClr val="002B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788920"/>
            <a:ext cx="3383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 i="0">
                <a:solidFill>
                  <a:srgbClr val="FFFFFF"/>
                </a:solidFill>
                <a:latin typeface="Arial"/>
              </a:rPr>
              <a:t>&lt; 1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703320"/>
            <a:ext cx="3383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BFD2DE"/>
                </a:solidFill>
                <a:latin typeface="Arial"/>
              </a:rPr>
              <a:t>build a journey once,</a:t>
            </a:r>
          </a:p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BFD2DE"/>
                </a:solidFill>
                <a:latin typeface="Arial"/>
              </a:rPr>
              <a:t>reuse it for the next workshop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2377440"/>
            <a:ext cx="3383280" cy="2377440"/>
          </a:xfrm>
          <a:prstGeom prst="roundRect">
            <a:avLst>
              <a:gd name="adj" fmla="val 8000"/>
            </a:avLst>
          </a:prstGeom>
          <a:solidFill>
            <a:srgbClr val="009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2788920"/>
            <a:ext cx="3383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 i="0">
                <a:solidFill>
                  <a:srgbClr val="FFFFFF"/>
                </a:solidFill>
                <a:latin typeface="Arial"/>
              </a:rPr>
              <a:t>~30 sec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3703320"/>
            <a:ext cx="3383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D6EFEB"/>
                </a:solidFill>
                <a:latin typeface="Arial"/>
              </a:rPr>
              <a:t>automated delivery</a:t>
            </a:r>
          </a:p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D6EFEB"/>
                </a:solidFill>
                <a:latin typeface="Arial"/>
              </a:rPr>
              <a:t>per adviser, end-to-end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2440" y="2377440"/>
            <a:ext cx="3383280" cy="2377440"/>
          </a:xfrm>
          <a:prstGeom prst="roundRect">
            <a:avLst>
              <a:gd name="adj" fmla="val 8000"/>
            </a:avLst>
          </a:prstGeom>
          <a:solidFill>
            <a:srgbClr val="002B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92440" y="2788920"/>
            <a:ext cx="3383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 i="0">
                <a:solidFill>
                  <a:srgbClr val="FFFFFF"/>
                </a:solidFill>
                <a:latin typeface="Arial"/>
              </a:rPr>
              <a:t>100%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92440" y="3703320"/>
            <a:ext cx="3383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BFD2DE"/>
                </a:solidFill>
                <a:latin typeface="Arial"/>
              </a:rPr>
              <a:t>on-brand — every export,</a:t>
            </a:r>
          </a:p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BFD2DE"/>
                </a:solidFill>
                <a:latin typeface="Arial"/>
              </a:rPr>
              <a:t>whoever runs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257800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 i="0">
                <a:solidFill>
                  <a:srgbClr val="5A6E7F"/>
                </a:solidFill>
                <a:latin typeface="Arial"/>
              </a:rPr>
              <a:t>Pre → during → post, behaviourally grounded — plus the engine to run it for any workshop, in any market.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B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FB3C2"/>
                </a:solidFill>
                <a:latin typeface="Arial"/>
              </a:rPr>
              <a:t>24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09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09B8F"/>
                </a:solidFill>
                <a:latin typeface="Arial"/>
              </a:rPr>
              <a:t>THE ASK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640080" cy="45720"/>
          </a:xfrm>
          <a:prstGeom prst="rect">
            <a:avLst/>
          </a:prstGeom>
          <a:solidFill>
            <a:srgbClr val="009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560320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000" b="1" i="0">
                <a:solidFill>
                  <a:srgbClr val="FFFFFF"/>
                </a:solidFill>
                <a:latin typeface="Arial"/>
              </a:rPr>
              <a:t>Roll it out.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977639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 i="0">
                <a:solidFill>
                  <a:srgbClr val="BFD2DE"/>
                </a:solidFill>
                <a:latin typeface="Arial"/>
              </a:rPr>
              <a:t>Plug-and-play across LTI workshops — pre, during, post.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212080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09B8F"/>
                </a:solidFill>
                <a:latin typeface="Arial"/>
              </a:rPr>
              <a:t>This is ready to use tomorrow.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