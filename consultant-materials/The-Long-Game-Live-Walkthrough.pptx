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146304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spc="250">
                <a:solidFill>
                  <a:srgbClr val="00D190"/>
                </a:solidFill>
                <a:latin typeface="Calibri"/>
              </a:rPr>
              <a:t>CAPITAL GROUP   ·   THE LONG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Live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CFE0F2"/>
                </a:solidFill>
                <a:latin typeface="Calibri"/>
              </a:rPr>
              <a:t>A walkthrough for consultants — how each screen works,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CFE0F2"/>
                </a:solidFill>
                <a:latin typeface="Calibri"/>
              </a:rPr>
              <a:t>and the thinking behind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9AB4CF"/>
                </a:solidFill>
                <a:latin typeface="Calibri"/>
              </a:rPr>
              <a:t>Internal use only · Do not disseminate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92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HOW A SESSION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Six moments, book-ended by setup and a shared reveal.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745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196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Join &amp; allocate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854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Players scan in, pick a nickname, and choose how much of their money starts invested vs. in cash.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7889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614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340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Six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98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For each: read a real (unnamed) crisis, decide Buy / Hold / Sell on the phone, then the host reveals what the market did.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7033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758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6484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Checks &amp; a windfall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0142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A live leaderboard after moments 2 and 4; a cash bonus lands at moment 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177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5628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The finish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9286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Everyone's result, side by side, against simply staying invested.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532119"/>
            <a:ext cx="457200" cy="457200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7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77255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83469"/>
                </a:solidFill>
                <a:latin typeface="Calibri"/>
              </a:rPr>
              <a:t>Explore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843015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F7081"/>
                </a:solidFill>
                <a:latin typeface="Calibri"/>
              </a:rPr>
              <a:t>The same lesson replayed through past crises — 1973 to 2018.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SETUP · THE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host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host opens the game on the big screen. It creates a room, a QR code, and one starting amount for the whole room. Players scan to join and their names appear.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One shared amount means the leaderboard reflects decisions, not who started with more. The QR points at the hosted site, so any phone — on any network — can join.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SETUP · EACH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starting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After joining, each player sets how much of their money starts invested versus held in cash — their own choice, on their own phone.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Cash feels safe, but the benchmark stays fully invested from day one, so holding back is measured as a real cost later. It makes allocation a live decision, not an assumption.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973" y="365760"/>
            <a:ext cx="4429693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al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141" y="566928"/>
            <a:ext cx="4027357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EACH MOMENT · THE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Every moment is a real month of 2020–2025, shown only as a short, tense story — never named or dated. The player chooses Buy, Hold, or Sell.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Hiding the date forces a gut reaction — the way an investor actually experiences a crisis in the moment, without the comfort of hindsight.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18267" y="365760"/>
            <a:ext cx="3257105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mo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435" y="566928"/>
            <a:ext cx="2854769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EACH MOMENT ·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While the room decides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big screen shows the room leaning Buy / Hold / Sell in real time. The outcome stays hidden until the host chooses to reveal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Surfacing the crowd's instinct — and withholding the result — lets the room commit to a decision before they know whether it paid 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EACH MOMENT · THE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What actually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On reveal, the big screen shows one number — the market's real move that month — with a plain-language read of what it meant.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market's move is separated from the drama of the story, so the takeaway is the data itself, not the fear the headline created.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MOMENT 3 · ITS OWN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cash windfall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Partway through, a cash bonus lands in every portfolio — as cash, announced on its own screen before the moment continues.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New money often arrives at unsettling times. Deploying it or leaving it idle is a real decision, and idle cash is measured against putting it to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0449" y="365760"/>
            <a:ext cx="5032742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in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617" y="566928"/>
            <a:ext cx="4630406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AFTER MOMENTS 2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performance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A live leaderboard shows every player against what they put in. At the same time, each phone shows that player their own rank.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A mid-game standing keeps the room engaged and makes the final lesson personal — you were in it, and this is where you stood.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THE RESULT · READING THE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The two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Teal “Your choices” is the path your Buy / Hold / Sell timing produced. Navy “Stayed invested” is the whole amount put in on day one and never touched. Markers show where you acted.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gap between the two lines is the whole point — what reacting cost, or (rarely) gained, versus simply holding on. The card states it in dollars and percent. (The Sales edition adds a third line: the fund.)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1826" y="365760"/>
            <a:ext cx="2469987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94" y="566928"/>
            <a:ext cx="2067651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THE FINISH · BIG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Everyone vs. holding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Every player's final value as a bar, against the line for total money put in and the line for simply staying invested the whole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The room sees one shape together: the fewer times a player stepped out, the closer they finished to the disciplined, stayed-invested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418228"/>
            <a:ext cx="6208776" cy="59666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st-fin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619396"/>
            <a:ext cx="5806440" cy="5564344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spc="180">
                <a:solidFill>
                  <a:srgbClr val="008074"/>
                </a:solidFill>
                <a:latin typeface="Calibri"/>
              </a:rPr>
              <a:t>AFTER THE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83469"/>
                </a:solidFill>
                <a:latin typeface="Calibri"/>
              </a:rPr>
              <a:t>Explore other crises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731520" cy="50800"/>
          </a:xfrm>
          <a:prstGeom prst="rect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008074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Players can replay the same comparison through earlier crises — 1973, 1987, 2000, 2008 — each showing staying invested versus sitting out the best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4892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40">
                <a:solidFill>
                  <a:srgbClr val="831574"/>
                </a:solidFill>
                <a:latin typeface="Calibri"/>
              </a:rPr>
              <a:t>THE THINKING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17136"/>
            <a:ext cx="4892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313F"/>
                </a:solidFill>
                <a:latin typeface="Calibri"/>
              </a:rPr>
              <a:t>It shows the pattern isn't a 2020 fluke. The best days cluster next to the worst, so stepping out to avoid the pain usually means missing the recovery.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07804" y="365760"/>
            <a:ext cx="2478032" cy="6071616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ne-cr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2" y="566928"/>
            <a:ext cx="2075696" cy="5669280"/>
          </a:xfrm>
          <a:prstGeom prst="rect">
            <a:avLst/>
          </a:prstGeom>
          <a:ln w="9525">
            <a:solidFill>
              <a:srgbClr val="D5DFE6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92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WHY IT'S BUILT THIS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Three ideas hold the whole game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057400"/>
            <a:ext cx="3566160" cy="33832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057400"/>
            <a:ext cx="3566160" cy="76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2980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Emotion, not math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46120"/>
            <a:ext cx="298094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It recreates fear, FOMO and regret so the room feels why investors sell at the wrong time — the real reason returns get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9432" y="2057400"/>
            <a:ext cx="3566160" cy="33832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2057400"/>
            <a:ext cx="3566160" cy="76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2368296"/>
            <a:ext cx="2980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Real data, hidden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246120"/>
            <a:ext cx="298094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Real monthly returns make it credible; hiding the dates keeps it honest — every decision is made without hindsight.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85632" y="2057400"/>
            <a:ext cx="3566160" cy="3383280"/>
          </a:xfrm>
          <a:prstGeom prst="roundRect">
            <a:avLst>
              <a:gd name="adj" fmla="val 3500"/>
            </a:avLst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85632" y="2057400"/>
            <a:ext cx="3566160" cy="76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2368296"/>
            <a:ext cx="2980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83469"/>
                </a:solidFill>
                <a:latin typeface="Calibri"/>
              </a:rPr>
              <a:t>Benchmarked to holding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3246120"/>
            <a:ext cx="298094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2313F"/>
                </a:solidFill>
                <a:latin typeface="Calibri"/>
              </a:rPr>
              <a:t>Every choice — timing, cash, the windfall — is measured against simply staying fully invested, so the cost of reacting is explicit.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926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spc="250">
                <a:solidFill>
                  <a:srgbClr val="00D190"/>
                </a:solidFill>
                <a:latin typeface="Calibri"/>
              </a:rPr>
              <a:t>RUNNING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1792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What a consultant actually does.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66928" cy="566928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9397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Host from the official 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53288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Open the game on the big screen — it creates the room and QR. Set the starting amount.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46120"/>
            <a:ext cx="566928" cy="566928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2783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The audience scans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3016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Any phone, any network. Names appear as they join; press start when the room is 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343400"/>
            <a:ext cx="566928" cy="566928"/>
          </a:xfrm>
          <a:prstGeom prst="roundRect">
            <a:avLst>
              <a:gd name="adj" fmla="val 35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2511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8853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83469"/>
                </a:solidFill>
                <a:latin typeface="Calibri"/>
              </a:rPr>
              <a:t>Pace the six moments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7274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F7081"/>
                </a:solidFill>
                <a:latin typeface="Calibri"/>
              </a:rPr>
              <a:t>You control reveal and next; the checks, windfall and finish run themselves. 5–50 players, ~15 min.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F7081"/>
                </a:solidFill>
                <a:latin typeface="Calibri"/>
              </a:rPr>
              <a:t>Internal / pre-approval. Confirm data + compliance sign-off before any client-facing 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6574536"/>
            <a:ext cx="121916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BCD0E6"/>
                </a:solidFill>
                <a:latin typeface="Calibri"/>
              </a:rPr>
              <a:t>THE LONG GAME · LIVE ROOM      ·      HOW IT WORKS, AND WHY      ·      INTERNAL USE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