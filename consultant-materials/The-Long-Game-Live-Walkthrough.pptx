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164592"/>
          </a:xfrm>
          <a:prstGeom prst="rect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spc="250">
                <a:solidFill>
                  <a:srgbClr val="00D190"/>
                </a:solidFill>
                <a:latin typeface="Calibri"/>
              </a:rPr>
              <a:t>CAPITAL GROUP   ·   THE LONG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Live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CFE0F2"/>
                </a:solidFill>
                <a:latin typeface="Calibri"/>
              </a:rPr>
              <a:t>The audience game, walked through in one screen each.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CD0E6"/>
                </a:solidFill>
                <a:latin typeface="Calibri"/>
              </a:rPr>
              <a:t>A consultant walkthrough — what players see, and why it works.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spc="150">
                <a:solidFill>
                  <a:srgbClr val="9AB4CF"/>
                </a:solidFill>
                <a:latin typeface="Calibri"/>
              </a:rPr>
              <a:t>Internal use only · Do not disseminate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spc="220">
                <a:solidFill>
                  <a:srgbClr val="008074"/>
                </a:solidFill>
                <a:latin typeface="Calibri"/>
              </a:rPr>
              <a:t>STEP 1 · SET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4297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083469"/>
                </a:solidFill>
                <a:latin typeface="Calibri"/>
              </a:rPr>
              <a:t>Scan to play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822960" cy="50800"/>
          </a:xfrm>
          <a:prstGeom prst="rect">
            <a:avLst/>
          </a:prstGeom>
          <a:solidFill>
            <a:srgbClr val="00D1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42976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22313F"/>
                </a:solidFill>
                <a:latin typeface="Calibri"/>
              </a:rPr>
              <a:t>One QR on the big screen. Any phone joins — any network. You set one starting amount for the whole room, so the leaderboard is fair.</a:t>
            </a:r>
          </a:p>
        </p:txBody>
      </p:sp>
      <p:pic>
        <p:nvPicPr>
          <p:cNvPr id="7" name="Picture 6" descr="host-lobb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94435"/>
            <a:ext cx="6858000" cy="4286250"/>
          </a:xfrm>
          <a:prstGeom prst="rect">
            <a:avLst/>
          </a:prstGeom>
          <a:ln w="9525">
            <a:solidFill>
              <a:srgbClr val="DBE4EA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56248"/>
            <a:ext cx="1219169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1" spc="150">
                <a:solidFill>
                  <a:srgbClr val="BCD0E6"/>
                </a:solidFill>
                <a:latin typeface="Calibri"/>
              </a:rPr>
              <a:t>THE LONG GAME · LIVE ROOM      ·      FOR INTERNAL USE ONLY · DO NOT DISSEMINATE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spc="220">
                <a:solidFill>
                  <a:srgbClr val="008074"/>
                </a:solidFill>
                <a:latin typeface="Calibri"/>
              </a:rPr>
              <a:t>STEP 2 · YOUR STAKE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4297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083469"/>
                </a:solidFill>
                <a:latin typeface="Calibri"/>
              </a:rPr>
              <a:t>Invest it — or don't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822960" cy="50800"/>
          </a:xfrm>
          <a:prstGeom prst="rect">
            <a:avLst/>
          </a:prstGeom>
          <a:solidFill>
            <a:srgbClr val="00D1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42976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22313F"/>
                </a:solidFill>
                <a:latin typeface="Calibri"/>
              </a:rPr>
              <a:t>Each player chooses how much of their money starts in the market. Holding cash on the sidelines feels safe — the game will show what it costs.</a:t>
            </a:r>
          </a:p>
        </p:txBody>
      </p:sp>
      <p:pic>
        <p:nvPicPr>
          <p:cNvPr id="7" name="Picture 6" descr="phone-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624" y="457200"/>
            <a:ext cx="2808351" cy="5760720"/>
          </a:xfrm>
          <a:prstGeom prst="rect">
            <a:avLst/>
          </a:prstGeom>
          <a:ln w="9525">
            <a:solidFill>
              <a:srgbClr val="DBE4EA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56248"/>
            <a:ext cx="1219169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1" spc="150">
                <a:solidFill>
                  <a:srgbClr val="BCD0E6"/>
                </a:solidFill>
                <a:latin typeface="Calibri"/>
              </a:rPr>
              <a:t>THE LONG GAME · LIVE ROOM      ·      FOR INTERNAL USE ONLY · DO NOT DISSEMINATE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spc="220">
                <a:solidFill>
                  <a:srgbClr val="008074"/>
                </a:solidFill>
                <a:latin typeface="Calibri"/>
              </a:rPr>
              <a:t>STEP 3 · THE MOMENTS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4297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083469"/>
                </a:solidFill>
                <a:latin typeface="Calibri"/>
              </a:rPr>
              <a:t>Six real crises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822960" cy="50800"/>
          </a:xfrm>
          <a:prstGeom prst="rect">
            <a:avLst/>
          </a:prstGeom>
          <a:solidFill>
            <a:srgbClr val="00D1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42976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22313F"/>
                </a:solidFill>
                <a:latin typeface="Calibri"/>
              </a:rPr>
              <a:t>Real months of 2020–2025, but never named. Players react on gut — Buy, Hold, or Sell — with no idea which crisis they're in.</a:t>
            </a:r>
          </a:p>
        </p:txBody>
      </p:sp>
      <p:pic>
        <p:nvPicPr>
          <p:cNvPr id="7" name="Picture 6" descr="phone-mo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624" y="457200"/>
            <a:ext cx="2808351" cy="5760720"/>
          </a:xfrm>
          <a:prstGeom prst="rect">
            <a:avLst/>
          </a:prstGeom>
          <a:ln w="9525">
            <a:solidFill>
              <a:srgbClr val="DBE4EA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56248"/>
            <a:ext cx="1219169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1" spc="150">
                <a:solidFill>
                  <a:srgbClr val="BCD0E6"/>
                </a:solidFill>
                <a:latin typeface="Calibri"/>
              </a:rPr>
              <a:t>THE LONG GAME · LIVE ROOM      ·      FOR INTERNAL USE ONLY · DO NOT DISSEMINATE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spc="220">
                <a:solidFill>
                  <a:srgbClr val="008074"/>
                </a:solidFill>
                <a:latin typeface="Calibri"/>
              </a:rP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4297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083469"/>
                </a:solidFill>
                <a:latin typeface="Calibri"/>
              </a:rPr>
              <a:t>The room decides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822960" cy="50800"/>
          </a:xfrm>
          <a:prstGeom prst="rect">
            <a:avLst/>
          </a:prstGeom>
          <a:solidFill>
            <a:srgbClr val="00D1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42976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22313F"/>
                </a:solidFill>
                <a:latin typeface="Calibri"/>
              </a:rPr>
              <a:t>The big screen shows the crowd leaning Buy / Hold / Sell in real time — but the outcome stays hidden until the host reveals it.</a:t>
            </a:r>
          </a:p>
        </p:txBody>
      </p:sp>
      <p:pic>
        <p:nvPicPr>
          <p:cNvPr id="7" name="Picture 6" descr="host-vo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94435"/>
            <a:ext cx="6858000" cy="4286250"/>
          </a:xfrm>
          <a:prstGeom prst="rect">
            <a:avLst/>
          </a:prstGeom>
          <a:ln w="9525">
            <a:solidFill>
              <a:srgbClr val="DBE4EA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56248"/>
            <a:ext cx="1219169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1" spc="150">
                <a:solidFill>
                  <a:srgbClr val="BCD0E6"/>
                </a:solidFill>
                <a:latin typeface="Calibri"/>
              </a:rPr>
              <a:t>THE LONG GAME · LIVE ROOM      ·      FOR INTERNAL USE ONLY · DO NOT DISSEMINATE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spc="220">
                <a:solidFill>
                  <a:srgbClr val="008074"/>
                </a:solidFill>
                <a:latin typeface="Calibri"/>
              </a:rPr>
              <a:t>THE PAYOFF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4297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083469"/>
                </a:solidFill>
                <a:latin typeface="Calibri"/>
              </a:rPr>
              <a:t>What actually happened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822960" cy="50800"/>
          </a:xfrm>
          <a:prstGeom prst="rect">
            <a:avLst/>
          </a:prstGeom>
          <a:solidFill>
            <a:srgbClr val="00D1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42976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22313F"/>
                </a:solidFill>
                <a:latin typeface="Calibri"/>
              </a:rPr>
              <a:t>One dramatic number: the market's verdict for that month. Did the room's instinct pay off — or not?</a:t>
            </a:r>
          </a:p>
        </p:txBody>
      </p:sp>
      <p:pic>
        <p:nvPicPr>
          <p:cNvPr id="7" name="Picture 6" descr="host-rev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94435"/>
            <a:ext cx="6858000" cy="4286250"/>
          </a:xfrm>
          <a:prstGeom prst="rect">
            <a:avLst/>
          </a:prstGeom>
          <a:ln w="9525">
            <a:solidFill>
              <a:srgbClr val="DBE4EA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56248"/>
            <a:ext cx="1219169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1" spc="150">
                <a:solidFill>
                  <a:srgbClr val="BCD0E6"/>
                </a:solidFill>
                <a:latin typeface="Calibri"/>
              </a:rPr>
              <a:t>THE LONG GAME · LIVE ROOM      ·      FOR INTERNAL USE ONLY · DO NOT DISSEMINATE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spc="220">
                <a:solidFill>
                  <a:srgbClr val="008074"/>
                </a:solidFill>
                <a:latin typeface="Calibri"/>
              </a:rPr>
              <a:t>THE TWIST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4297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083469"/>
                </a:solidFill>
                <a:latin typeface="Calibri"/>
              </a:rPr>
              <a:t>A bonus lands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822960" cy="50800"/>
          </a:xfrm>
          <a:prstGeom prst="rect">
            <a:avLst/>
          </a:prstGeom>
          <a:solidFill>
            <a:srgbClr val="00D1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42976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22313F"/>
                </a:solidFill>
                <a:latin typeface="Calibri"/>
              </a:rPr>
              <a:t>Mid-game, new cash arrives — often at the scariest moment. Put it to work, or freeze? The same dilemma real investors face with a windfall.</a:t>
            </a:r>
          </a:p>
        </p:txBody>
      </p:sp>
      <p:pic>
        <p:nvPicPr>
          <p:cNvPr id="7" name="Picture 6" descr="phone-in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624" y="457200"/>
            <a:ext cx="2808351" cy="5760720"/>
          </a:xfrm>
          <a:prstGeom prst="rect">
            <a:avLst/>
          </a:prstGeom>
          <a:ln w="9525">
            <a:solidFill>
              <a:srgbClr val="DBE4EA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56248"/>
            <a:ext cx="1219169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1" spc="150">
                <a:solidFill>
                  <a:srgbClr val="BCD0E6"/>
                </a:solidFill>
                <a:latin typeface="Calibri"/>
              </a:rPr>
              <a:t>THE LONG GAME · LIVE ROOM      ·      FOR INTERNAL USE ONLY · DO NOT DISSEMINATE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spc="220">
                <a:solidFill>
                  <a:srgbClr val="008074"/>
                </a:solidFill>
                <a:latin typeface="Calibri"/>
              </a:rPr>
              <a:t>THE 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4297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083469"/>
                </a:solidFill>
                <a:latin typeface="Calibri"/>
              </a:rPr>
              <a:t>Who's ahead —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822960" cy="50800"/>
          </a:xfrm>
          <a:prstGeom prst="rect">
            <a:avLst/>
          </a:prstGeom>
          <a:solidFill>
            <a:srgbClr val="00D1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42976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22313F"/>
                </a:solidFill>
                <a:latin typeface="Calibri"/>
              </a:rPr>
              <a:t>Twice mid-game, a leaderboard shows every player against what they put in. Nothing drives a room like watching the pack pull ahead.</a:t>
            </a:r>
          </a:p>
        </p:txBody>
      </p:sp>
      <p:pic>
        <p:nvPicPr>
          <p:cNvPr id="7" name="Picture 6" descr="host-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94435"/>
            <a:ext cx="6858000" cy="4286250"/>
          </a:xfrm>
          <a:prstGeom prst="rect">
            <a:avLst/>
          </a:prstGeom>
          <a:ln w="9525">
            <a:solidFill>
              <a:srgbClr val="DBE4EA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56248"/>
            <a:ext cx="1219169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1" spc="150">
                <a:solidFill>
                  <a:srgbClr val="BCD0E6"/>
                </a:solidFill>
                <a:latin typeface="Calibri"/>
              </a:rPr>
              <a:t>THE LONG GAME · LIVE ROOM      ·      FOR INTERNAL USE ONLY · DO NOT DISSEMINATE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spc="220">
                <a:solidFill>
                  <a:srgbClr val="008074"/>
                </a:solidFill>
                <a:latin typeface="Calibri"/>
              </a:rPr>
              <a:t>ON EVERY PHONE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4297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083469"/>
                </a:solidFill>
                <a:latin typeface="Calibri"/>
              </a:rPr>
              <a:t>Your rank, personally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822960" cy="50800"/>
          </a:xfrm>
          <a:prstGeom prst="rect">
            <a:avLst/>
          </a:prstGeom>
          <a:solidFill>
            <a:srgbClr val="00D1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42976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22313F"/>
                </a:solidFill>
                <a:latin typeface="Calibri"/>
              </a:rPr>
              <a:t>Public chart on the wall; a private '#4 of 12' in your hand. The sting that makes the lesson land.</a:t>
            </a:r>
          </a:p>
        </p:txBody>
      </p:sp>
      <p:pic>
        <p:nvPicPr>
          <p:cNvPr id="7" name="Picture 6" descr="phone-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624" y="457200"/>
            <a:ext cx="2808351" cy="5760720"/>
          </a:xfrm>
          <a:prstGeom prst="rect">
            <a:avLst/>
          </a:prstGeom>
          <a:ln w="9525">
            <a:solidFill>
              <a:srgbClr val="DBE4EA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56248"/>
            <a:ext cx="1219169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1" spc="150">
                <a:solidFill>
                  <a:srgbClr val="BCD0E6"/>
                </a:solidFill>
                <a:latin typeface="Calibri"/>
              </a:rPr>
              <a:t>THE LONG GAME · LIVE ROOM      ·      FOR INTERNAL USE ONLY · DO NOT DISSEMINATE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spc="220">
                <a:solidFill>
                  <a:srgbClr val="008074"/>
                </a:solidFill>
                <a:latin typeface="Calibri"/>
              </a:rPr>
              <a:t>THE FINISH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4297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083469"/>
                </a:solidFill>
                <a:latin typeface="Calibri"/>
              </a:rPr>
              <a:t>Everyone vs. holding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822960" cy="50800"/>
          </a:xfrm>
          <a:prstGeom prst="rect">
            <a:avLst/>
          </a:prstGeom>
          <a:solidFill>
            <a:srgbClr val="00D1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42976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22313F"/>
                </a:solidFill>
                <a:latin typeface="Calibri"/>
              </a:rPr>
              <a:t>Every player's finish, side by side, against the line that simply stayed invested. The fewer times they jumped, the closer they land to it.</a:t>
            </a:r>
          </a:p>
        </p:txBody>
      </p:sp>
      <p:pic>
        <p:nvPicPr>
          <p:cNvPr id="7" name="Picture 6" descr="host-fin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94435"/>
            <a:ext cx="6858000" cy="4286250"/>
          </a:xfrm>
          <a:prstGeom prst="rect">
            <a:avLst/>
          </a:prstGeom>
          <a:ln w="9525">
            <a:solidFill>
              <a:srgbClr val="DBE4EA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56248"/>
            <a:ext cx="1219169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1" spc="150">
                <a:solidFill>
                  <a:srgbClr val="BCD0E6"/>
                </a:solidFill>
                <a:latin typeface="Calibri"/>
              </a:rPr>
              <a:t>THE LONG GAME · LIVE ROOM      ·      FOR INTERNAL USE ONLY · DO NOT DISSEMINATE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spc="220">
                <a:solidFill>
                  <a:srgbClr val="008074"/>
                </a:solidFill>
                <a:latin typeface="Calibri"/>
              </a:rPr>
              <a:t>THE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4297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083469"/>
                </a:solidFill>
                <a:latin typeface="Calibri"/>
              </a:rPr>
              <a:t>It repeats in any crisis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822960" cy="50800"/>
          </a:xfrm>
          <a:prstGeom prst="rect">
            <a:avLst/>
          </a:prstGeom>
          <a:solidFill>
            <a:srgbClr val="00D1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42976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22313F"/>
                </a:solidFill>
                <a:latin typeface="Calibri"/>
              </a:rPr>
              <a:t>1973 · 1987 · 2000 · 2008 — flip through decades and the shape barely changes. Staying invested keeps winning.</a:t>
            </a:r>
          </a:p>
        </p:txBody>
      </p:sp>
      <p:pic>
        <p:nvPicPr>
          <p:cNvPr id="7" name="Picture 6" descr="phone-cri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670" y="457200"/>
            <a:ext cx="2080260" cy="5760720"/>
          </a:xfrm>
          <a:prstGeom prst="rect">
            <a:avLst/>
          </a:prstGeom>
          <a:ln w="9525">
            <a:solidFill>
              <a:srgbClr val="DBE4EA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56248"/>
            <a:ext cx="1219169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1" spc="150">
                <a:solidFill>
                  <a:srgbClr val="BCD0E6"/>
                </a:solidFill>
                <a:latin typeface="Calibri"/>
              </a:rPr>
              <a:t>THE LONG GAME · LIVE ROOM      ·      FOR INTERNAL USE ONLY · DO NOT DISSEMINATE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spc="250">
                <a:solidFill>
                  <a:srgbClr val="00D190"/>
                </a:solidFill>
                <a:latin typeface="Calibri"/>
              </a:rPr>
              <a:t>THE THINKING BEHIND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Investors don't fail at math. They fail at emotion.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94560"/>
            <a:ext cx="3566160" cy="3108960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94560"/>
            <a:ext cx="3566160" cy="63500"/>
          </a:xfrm>
          <a:prstGeom prst="rect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83469"/>
                </a:solidFill>
                <a:latin typeface="Calibri"/>
              </a:rPr>
              <a:t>Felt, not lectured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37560"/>
            <a:ext cx="3017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22313F"/>
                </a:solidFill>
                <a:latin typeface="Calibri"/>
              </a:rPr>
              <a:t>Fear, FOMO and regret are lived in real time — not explained on a slide.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194560"/>
            <a:ext cx="3566160" cy="3108960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2194560"/>
            <a:ext cx="3566160" cy="63500"/>
          </a:xfrm>
          <a:prstGeom prst="rect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51460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83469"/>
                </a:solidFill>
                <a:latin typeface="Calibri"/>
              </a:rPr>
              <a:t>Every instinct says sell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337560"/>
            <a:ext cx="3017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22313F"/>
                </a:solidFill>
                <a:latin typeface="Calibri"/>
              </a:rPr>
              <a:t>And staying invested still came out ahead. The room feels the pull, then sees the cost.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8200" y="2194560"/>
            <a:ext cx="3566160" cy="3108960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58200" y="2194560"/>
            <a:ext cx="3566160" cy="63500"/>
          </a:xfrm>
          <a:prstGeom prst="rect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251460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83469"/>
                </a:solidFill>
                <a:latin typeface="Calibri"/>
              </a:rPr>
              <a:t>Opens the conversation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3337560"/>
            <a:ext cx="3017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22313F"/>
                </a:solidFill>
                <a:latin typeface="Calibri"/>
              </a:rPr>
              <a:t>A visceral, shared reason discipline — and a professional in your corner — matters.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6556248"/>
            <a:ext cx="1219169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1" spc="150">
                <a:solidFill>
                  <a:srgbClr val="BCD0E6"/>
                </a:solidFill>
                <a:latin typeface="Calibri"/>
              </a:rPr>
              <a:t>THE LONG GAME · LIVE ROOM      ·      FOR INTERNAL USE ONLY · DO NOT DISSEMINATE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spc="250">
                <a:solidFill>
                  <a:srgbClr val="00D190"/>
                </a:solidFill>
                <a:latin typeface="Calibri"/>
              </a:rPr>
              <a:t>RUNNING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Live in about fifteen minutes.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6771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2402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83469"/>
                </a:solidFill>
                <a:latin typeface="Calibri"/>
              </a:rPr>
              <a:t>Host from the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6974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F7081"/>
                </a:solidFill>
                <a:latin typeface="Calibri"/>
              </a:rPr>
              <a:t>Open the game on the big screen — it makes the room + QR.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429000"/>
            <a:ext cx="640080" cy="640080"/>
          </a:xfrm>
          <a:prstGeom prst="rect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1071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3832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83469"/>
                </a:solidFill>
                <a:latin typeface="Calibri"/>
              </a:rPr>
              <a:t>Audience scans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04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F7081"/>
                </a:solidFill>
                <a:latin typeface="Calibri"/>
              </a:rPr>
              <a:t>Any phone, any network. Names appear as they join.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572000"/>
            <a:ext cx="640080" cy="640080"/>
          </a:xfrm>
          <a:prstGeom prst="rect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55371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5262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83469"/>
                </a:solidFill>
                <a:latin typeface="Calibri"/>
              </a:rPr>
              <a:t>Play six moments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9834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F7081"/>
                </a:solidFill>
                <a:latin typeface="Calibri"/>
              </a:rPr>
              <a:t>You pace it; checks and the finish run themselves. 5–50 players.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7081"/>
                </a:solidFill>
                <a:latin typeface="Calibri"/>
              </a:rPr>
              <a:t>Reminder: internal / pre-approval. Confirm data + compliance sign-off before any client-facing use.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0" y="6556248"/>
            <a:ext cx="1219169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1" spc="150">
                <a:solidFill>
                  <a:srgbClr val="BCD0E6"/>
                </a:solidFill>
                <a:latin typeface="Calibri"/>
              </a:rPr>
              <a:t>THE LONG GAME · LIVE ROOM      ·      FOR INTERNAL USE ONLY · DO NOT DISSEMINATE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