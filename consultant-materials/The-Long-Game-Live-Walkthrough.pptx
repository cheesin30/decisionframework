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164592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spc="250">
                <a:solidFill>
                  <a:srgbClr val="00D190"/>
                </a:solidFill>
                <a:latin typeface="Calibri"/>
              </a:rPr>
              <a:t>CAPITAL GROUP   ·   THE LONG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Live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CFE0F2"/>
                </a:solidFill>
                <a:latin typeface="Calibri"/>
              </a:rPr>
              <a:t>A walkthrough for consultants — how each screen works,
and the thinking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9AB4CF"/>
                </a:solidFill>
                <a:latin typeface="Calibri"/>
              </a:rPr>
              <a:t>Internal use only · Do not disseminate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HOW A SESSION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Six moments, book-ended by setup and a shared reveal.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475488" cy="47548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20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Join &amp; allocate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95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Players scan in, pick a nickname, and choose how much starts invested vs. in cash.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475488" cy="47548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25496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072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Six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8211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For each: read a real (unnamed) crisis, decide Buy/Hold/Sell on the phone, then the host reveals what the market did.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39896"/>
            <a:ext cx="475488" cy="47548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12464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69417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Checks &amp; a windfall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6908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A live leaderboard after moments 2 and 4; a cash bonus lands at moment 3.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26864"/>
            <a:ext cx="475488" cy="47548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9432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5811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The finish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95604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Everyone's result, side by side, against simply staying invested.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513832"/>
            <a:ext cx="475488" cy="47548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6811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Explore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4301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The same lesson replayed through past crises — 1973 to 2018.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SETUP · THE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host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The host opens the game on the big screen. It creates a room, a QR code, and one starting amount for the whole room. Players scan to join and their names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One shared amount means the leaderboard reflects decisions, not who started with more. The QR points at the hosted site, so any phone — on any network — can join.</a:t>
            </a:r>
          </a:p>
        </p:txBody>
      </p:sp>
      <p:pic>
        <p:nvPicPr>
          <p:cNvPr id="10" name="Picture 9" descr="host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85875"/>
            <a:ext cx="6858000" cy="428625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SETUP · EACH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starting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After joining, each player sets how much of their money starts invested versus held in cash — their own choice, on their own phone.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Cash feels safe, but the benchmark stays fully invested from day one, so holding back is measured as a real cost later. It turns allocation into a live decision rather than an assumption.</a:t>
            </a:r>
          </a:p>
        </p:txBody>
      </p:sp>
      <p:pic>
        <p:nvPicPr>
          <p:cNvPr id="10" name="Picture 9" descr="phone-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457200"/>
            <a:ext cx="2852928" cy="585216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EACH MOMENT ·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Every moment is a real month of 2020–2025, shown only as a short, tense story — never named or dated. The player chooses Buy, Hold, or Sell.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Hiding the date forces a gut reaction — the way an investor actually experiences a crisis in the moment, without the comfort of hindsight.</a:t>
            </a:r>
          </a:p>
        </p:txBody>
      </p:sp>
      <p:pic>
        <p:nvPicPr>
          <p:cNvPr id="10" name="Picture 9" descr="phone-mo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457200"/>
            <a:ext cx="2852928" cy="585216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EACH MOMENT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While the room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The big screen shows the room leaning Buy / Hold / Sell in real time. The outcome stays hidden until the host chooses to reveal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Surfacing the crowd's instinct — and withholding the result — lets the room commit to a decision before they know whether it paid off.</a:t>
            </a:r>
          </a:p>
        </p:txBody>
      </p:sp>
      <p:pic>
        <p:nvPicPr>
          <p:cNvPr id="10" name="Picture 9" descr="host-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85875"/>
            <a:ext cx="6858000" cy="428625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EACH MOMENT · THE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What actually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On reveal, the big screen shows one number — the market's real move that month — with a plain-language read of what it meant.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The market's move is separated from the drama of the story, so the takeaway is the data itself, not the fear the headline created.</a:t>
            </a:r>
          </a:p>
        </p:txBody>
      </p:sp>
      <p:pic>
        <p:nvPicPr>
          <p:cNvPr id="10" name="Picture 9" descr="host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85875"/>
            <a:ext cx="6858000" cy="428625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MOMENT 3 · ITS OWN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cash windfall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Partway through, a cash bonus lands in every portfolio — as cash, announced on its own screen before the moment continues.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New money often arrives at unsettling times. Deploying it or leaving it idle is a real decision, and idle cash is measured against putting it to work.</a:t>
            </a:r>
          </a:p>
        </p:txBody>
      </p:sp>
      <p:pic>
        <p:nvPicPr>
          <p:cNvPr id="10" name="Picture 9" descr="phone-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457200"/>
            <a:ext cx="2852928" cy="585216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AFTER MOMENTS 2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performance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A live leaderboard shows every player against what they put in. At the same time, each phone shows that player their own rank.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A mid-game standing keeps the room engaged and makes the final lesson personal — you were in it, and this is where you stood.</a:t>
            </a:r>
          </a:p>
        </p:txBody>
      </p:sp>
      <p:pic>
        <p:nvPicPr>
          <p:cNvPr id="10" name="Picture 9" descr="host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85875"/>
            <a:ext cx="6858000" cy="428625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THE RESULT · READING THE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The two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Each player's own chart. Teal “Your choices” is the path your Buy/Hold/Sell timing produced. Navy “Stayed invested” is the whole amount put in on day one and never touched. Markers show where you acted.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The gap between the two lines is the whole point — what reacting cost, or (rarely) gained, versus simply holding on. The card states it in dollars and percent. (The Sales edition adds a third line: the fund itself.)</a:t>
            </a:r>
          </a:p>
        </p:txBody>
      </p:sp>
      <p:pic>
        <p:nvPicPr>
          <p:cNvPr id="10" name="Picture 9" descr="phone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760" y="457200"/>
            <a:ext cx="2113280" cy="585216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THE FINISH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Everyone vs. holding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Every player's final value as a bar, against the line for total money put in and the line for simply staying invested the whole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The room sees one shape together: the fewer times a player stepped out, the closer they finished to the disciplined, stayed-invested line.</a:t>
            </a:r>
          </a:p>
        </p:txBody>
      </p:sp>
      <p:pic>
        <p:nvPicPr>
          <p:cNvPr id="10" name="Picture 9" descr="host-fin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85875"/>
            <a:ext cx="6858000" cy="428625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spc="200">
                <a:solidFill>
                  <a:srgbClr val="008074"/>
                </a:solidFill>
                <a:latin typeface="Calibri"/>
              </a:rPr>
              <a:t>AFTER THE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4343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83469"/>
                </a:solidFill>
                <a:latin typeface="Calibri"/>
              </a:rPr>
              <a:t>Explore other crises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77724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4343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Players can replay the same comparison through earlier crises — 1973, 1987, 2000, 2008 — each showing staying invested versus sitting out the best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4343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2272"/>
            <a:ext cx="4343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313F"/>
                </a:solidFill>
                <a:latin typeface="Calibri"/>
              </a:rPr>
              <a:t>It shows the pattern isn't a 2020 fluke. The best days cluster next to the worst, so stepping out to avoid the pain usually means missing the recovery.</a:t>
            </a:r>
          </a:p>
        </p:txBody>
      </p:sp>
      <p:pic>
        <p:nvPicPr>
          <p:cNvPr id="10" name="Picture 9" descr="phone-cr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760" y="457200"/>
            <a:ext cx="2113280" cy="5852160"/>
          </a:xfrm>
          <a:prstGeom prst="rect">
            <a:avLst/>
          </a:prstGeom>
          <a:ln w="9525">
            <a:solidFill>
              <a:srgbClr val="DBE4EA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WHY IT'S BUILT THIS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Three ideas hold the whole game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3566160" cy="3291840"/>
          </a:xfrm>
          <a:prstGeom prst="rect">
            <a:avLst/>
          </a:prstGeom>
          <a:solidFill>
            <a:srgbClr val="F2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3566160" cy="635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9572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Emotion, not 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It recreates fear, FOMO and regret so the room feels why investors sell at the wrong time — the real reason returns get missed.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103120"/>
            <a:ext cx="3566160" cy="3291840"/>
          </a:xfrm>
          <a:prstGeom prst="rect">
            <a:avLst/>
          </a:prstGeom>
          <a:solidFill>
            <a:srgbClr val="F2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103120"/>
            <a:ext cx="3566160" cy="635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9572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Real data, hidden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24612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Real monthly returns make it credible; hiding the dates keeps it honest — every decision is made without hindsight.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2103120"/>
            <a:ext cx="3566160" cy="3291840"/>
          </a:xfrm>
          <a:prstGeom prst="rect">
            <a:avLst/>
          </a:prstGeom>
          <a:solidFill>
            <a:srgbClr val="F2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2103120"/>
            <a:ext cx="3566160" cy="635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239572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Benchmarked to holding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324612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Every choice — timing, cash, the windfall — is measured against simply staying fully invested, so the cost of reacting is explicit.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RUNNING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a consultant actually does.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031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Host from the official 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32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Open the game on the big screen — it creates the room and QR. Set the starting amount.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91840"/>
            <a:ext cx="594360" cy="59436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7355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2461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The audience scans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75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Any phone, any network. Names appear as they join; press start when the room is 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434840"/>
            <a:ext cx="594360" cy="59436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1655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3891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Pace the six moments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18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You control reveal and next; the checks, windfall and finish run themselves. 5–50 players, ~15 min.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F7081"/>
                </a:solidFill>
                <a:latin typeface="Calibri"/>
              </a:rPr>
              <a:t>Internal / pre-approval. Confirm data + compliance sign-off before any client-facing 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556248"/>
            <a:ext cx="12191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1" spc="150">
                <a:solidFill>
                  <a:srgbClr val="BCD0E6"/>
                </a:solidFill>
                <a:latin typeface="Calibri"/>
              </a:rPr>
              <a:t>THE LONG GAME · LIVE ROOM      ·      HOW IT WORKS, AND WHY      ·      FOR INTERNAL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